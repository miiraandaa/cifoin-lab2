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289" r:id="rId3"/>
    <p:sldId id="295" r:id="rId4"/>
    <p:sldId id="304" r:id="rId5"/>
    <p:sldId id="308" r:id="rId6"/>
    <p:sldId id="309" r:id="rId7"/>
    <p:sldId id="302" r:id="rId8"/>
    <p:sldId id="303" r:id="rId9"/>
    <p:sldId id="310" r:id="rId10"/>
    <p:sldId id="311" r:id="rId11"/>
    <p:sldId id="312" r:id="rId12"/>
    <p:sldId id="291" r:id="rId13"/>
    <p:sldId id="296" r:id="rId14"/>
    <p:sldId id="313" r:id="rId15"/>
    <p:sldId id="294" r:id="rId16"/>
    <p:sldId id="314" r:id="rId17"/>
    <p:sldId id="315" r:id="rId18"/>
    <p:sldId id="301" r:id="rId19"/>
    <p:sldId id="290" r:id="rId20"/>
    <p:sldId id="297" r:id="rId21"/>
    <p:sldId id="292" r:id="rId22"/>
    <p:sldId id="298" r:id="rId23"/>
    <p:sldId id="288" r:id="rId2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8" autoAdjust="0"/>
    <p:restoredTop sz="95033" autoAdjust="0"/>
  </p:normalViewPr>
  <p:slideViewPr>
    <p:cSldViewPr>
      <p:cViewPr varScale="1">
        <p:scale>
          <a:sx n="74" d="100"/>
          <a:sy n="74" d="100"/>
        </p:scale>
        <p:origin x="596"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98539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137031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993969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908788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987386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827063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3417274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410309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Terminal + ‘</a:t>
            </a:r>
            <a:r>
              <a:rPr lang="en-US" kern="0" dirty="0" err="1">
                <a:solidFill>
                  <a:sysClr val="windowText" lastClr="000000"/>
                </a:solidFill>
                <a:sym typeface="Wingdings" pitchFamily="2" charset="2"/>
              </a:rPr>
              <a:t>uv</a:t>
            </a:r>
            <a:r>
              <a:rPr lang="en-US" kern="0">
                <a:solidFill>
                  <a:sysClr val="windowText" lastClr="000000"/>
                </a:solidFill>
                <a:sym typeface="Wingdings" pitchFamily="2" charset="2"/>
              </a:rPr>
              <a:t> sync’</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1003765" y="542398"/>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5275522" y="2033808"/>
            <a:ext cx="594854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esta figura se muestra el perfil del índice de refracción, donde se distinguen claramente dos núcleos de guía de onda con un índice de refracción mayor (material empleado: </a:t>
            </a:r>
            <a:r>
              <a:rPr lang="es-ES" sz="1200" dirty="0" err="1"/>
              <a:t>SiN</a:t>
            </a:r>
            <a:r>
              <a:rPr lang="es-ES" sz="1200" dirty="0"/>
              <a:t>), rodeados por el </a:t>
            </a:r>
            <a:r>
              <a:rPr lang="es-ES" sz="1200" dirty="0" err="1"/>
              <a:t>cladding</a:t>
            </a:r>
            <a:r>
              <a:rPr lang="es-ES" sz="1200" dirty="0"/>
              <a:t> de menor índice (material empleado: SiO2). La presencia de dos guías próximas permite el acoplamiento óptico entre ellas.</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1000717" y="1098151"/>
            <a:ext cx="3741516" cy="26306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Descripción generada automáticamente">
            <a:extLst>
              <a:ext uri="{FF2B5EF4-FFF2-40B4-BE49-F238E27FC236}">
                <a16:creationId xmlns:a16="http://schemas.microsoft.com/office/drawing/2014/main" id="{5F7A1645-6F8C-0ACE-B0AB-8A9B7EA205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752" y="1192007"/>
            <a:ext cx="3615446" cy="2514600"/>
          </a:xfrm>
          <a:prstGeom prst="rect">
            <a:avLst/>
          </a:prstGeom>
        </p:spPr>
      </p:pic>
      <p:pic>
        <p:nvPicPr>
          <p:cNvPr id="10" name="Imagen 9" descr="Interfaz de usuario gráfica, Texto, Aplicación, Correo electrónico&#10;&#10;Descripción generada automáticamente">
            <a:extLst>
              <a:ext uri="{FF2B5EF4-FFF2-40B4-BE49-F238E27FC236}">
                <a16:creationId xmlns:a16="http://schemas.microsoft.com/office/drawing/2014/main" id="{6581414D-08F3-E386-AE7C-425322E19E0B}"/>
              </a:ext>
            </a:extLst>
          </p:cNvPr>
          <p:cNvPicPr>
            <a:picLocks noChangeAspect="1"/>
          </p:cNvPicPr>
          <p:nvPr/>
        </p:nvPicPr>
        <p:blipFill rotWithShape="1">
          <a:blip r:embed="rId5">
            <a:extLst>
              <a:ext uri="{28A0092B-C50C-407E-A947-70E740481C1C}">
                <a14:useLocalDpi xmlns:a14="http://schemas.microsoft.com/office/drawing/2010/main" val="0"/>
              </a:ext>
            </a:extLst>
          </a:blip>
          <a:srcRect l="14080"/>
          <a:stretch/>
        </p:blipFill>
        <p:spPr>
          <a:xfrm>
            <a:off x="618744" y="4041383"/>
            <a:ext cx="4184900" cy="1889893"/>
          </a:xfrm>
          <a:prstGeom prst="rect">
            <a:avLst/>
          </a:prstGeom>
        </p:spPr>
      </p:pic>
      <p:sp>
        <p:nvSpPr>
          <p:cNvPr id="11" name="CuadroTexto 10">
            <a:extLst>
              <a:ext uri="{FF2B5EF4-FFF2-40B4-BE49-F238E27FC236}">
                <a16:creationId xmlns:a16="http://schemas.microsoft.com/office/drawing/2014/main" id="{90524AEC-AD26-31BF-92D6-1E9F924AEEB0}"/>
              </a:ext>
            </a:extLst>
          </p:cNvPr>
          <p:cNvSpPr txBox="1"/>
          <p:nvPr/>
        </p:nvSpPr>
        <p:spPr>
          <a:xfrm>
            <a:off x="5275522" y="4478497"/>
            <a:ext cx="594854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la simulación de la sección transversal del acoplador direccional se identifican cuatro modos guiados, correspondientes a dos modos TE y dos modos TM. Los índices efectivos obtenidos son aproximadamente </a:t>
            </a:r>
            <a:r>
              <a:rPr lang="es-ES" sz="1200" dirty="0" err="1"/>
              <a:t>neff</a:t>
            </a:r>
            <a:r>
              <a:rPr lang="es-ES" sz="1200" dirty="0"/>
              <a:t> ≈ 1.60 para los modos TE y </a:t>
            </a:r>
            <a:r>
              <a:rPr lang="es-ES" sz="1200" dirty="0" err="1"/>
              <a:t>neff</a:t>
            </a:r>
            <a:r>
              <a:rPr lang="es-ES" sz="1200" dirty="0"/>
              <a:t> ≈ 1.52−1.53 para los modos TM, todos ellos comprendidos entre el índice del núcleo y del </a:t>
            </a:r>
            <a:r>
              <a:rPr lang="es-ES" sz="1200" dirty="0" err="1"/>
              <a:t>cladding</a:t>
            </a:r>
            <a:r>
              <a:rPr lang="es-ES" sz="1200" dirty="0"/>
              <a:t>, lo que confirma su naturaleza guiada.</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9563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1003765" y="542398"/>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11" name="CuadroTexto 10">
            <a:extLst>
              <a:ext uri="{FF2B5EF4-FFF2-40B4-BE49-F238E27FC236}">
                <a16:creationId xmlns:a16="http://schemas.microsoft.com/office/drawing/2014/main" id="{90524AEC-AD26-31BF-92D6-1E9F924AEEB0}"/>
              </a:ext>
            </a:extLst>
          </p:cNvPr>
          <p:cNvSpPr txBox="1"/>
          <p:nvPr/>
        </p:nvSpPr>
        <p:spPr>
          <a:xfrm>
            <a:off x="1003765" y="4419600"/>
            <a:ext cx="10450815"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la figura de la izquierda se observan los modos TE del acoplador direccional, donde el campo eléctrico se extiende principalmente en la dirección horizontal. Se observa un buen confinamiento dentro de los núcleos y una limitada propagación del campo hacia el </a:t>
            </a:r>
            <a:r>
              <a:rPr lang="es-ES" sz="1200" dirty="0" err="1"/>
              <a:t>cladding</a:t>
            </a:r>
            <a:r>
              <a:rPr lang="es-ES" sz="1200" dirty="0"/>
              <a:t>.</a:t>
            </a:r>
          </a:p>
          <a:p>
            <a:pPr algn="just"/>
            <a:r>
              <a:rPr lang="es-ES" sz="1200" dirty="0"/>
              <a:t>En cambio, los modos TM (figura de la derecha) muestran una distribución más abierta en la dirección vertical. En comparación con los modos TE, se aprecia que el campo está más disperso, lo que indica un confinamiento más débil.</a:t>
            </a:r>
          </a:p>
          <a:p>
            <a:pPr algn="just"/>
            <a:r>
              <a:rPr lang="es-ES" sz="1200" dirty="0"/>
              <a:t>Por tanto, se concluye que la polarización TE mantiene mejor el campo dentro de las guías, mientras que la polarización TM presenta mayores pérdidas por expansión hacia el </a:t>
            </a:r>
            <a:r>
              <a:rPr lang="es-ES" sz="1200" dirty="0" err="1"/>
              <a:t>cladding</a:t>
            </a:r>
            <a:r>
              <a:rPr lang="es-ES" sz="1200" dirty="0"/>
              <a:t>.</a:t>
            </a:r>
          </a:p>
        </p:txBody>
      </p:sp>
      <p:pic>
        <p:nvPicPr>
          <p:cNvPr id="6" name="Imagen 5" descr="Rectángulo&#10;&#10;Descripción generada automáticamente con confianza media">
            <a:extLst>
              <a:ext uri="{FF2B5EF4-FFF2-40B4-BE49-F238E27FC236}">
                <a16:creationId xmlns:a16="http://schemas.microsoft.com/office/drawing/2014/main" id="{75756BB0-5C94-C8FC-CE0A-F592C7B2C6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 y="1681971"/>
            <a:ext cx="3371054" cy="2179944"/>
          </a:xfrm>
          <a:prstGeom prst="rect">
            <a:avLst/>
          </a:prstGeom>
        </p:spPr>
      </p:pic>
      <p:pic>
        <p:nvPicPr>
          <p:cNvPr id="9" name="Imagen 8" descr="Gráfico, Gráfico de burbujas&#10;&#10;Descripción generada automáticamente">
            <a:extLst>
              <a:ext uri="{FF2B5EF4-FFF2-40B4-BE49-F238E27FC236}">
                <a16:creationId xmlns:a16="http://schemas.microsoft.com/office/drawing/2014/main" id="{4E14AA5F-A4B9-F6F9-1C87-F458D697C2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0954" y="1619619"/>
            <a:ext cx="3035046" cy="2181552"/>
          </a:xfrm>
          <a:prstGeom prst="rect">
            <a:avLst/>
          </a:prstGeom>
        </p:spPr>
      </p:pic>
      <p:sp>
        <p:nvSpPr>
          <p:cNvPr id="12" name="Rectángulo 11">
            <a:extLst>
              <a:ext uri="{FF2B5EF4-FFF2-40B4-BE49-F238E27FC236}">
                <a16:creationId xmlns:a16="http://schemas.microsoft.com/office/drawing/2014/main" id="{07113736-4A78-E848-1167-82E93C4B2B48}"/>
              </a:ext>
            </a:extLst>
          </p:cNvPr>
          <p:cNvSpPr/>
          <p:nvPr/>
        </p:nvSpPr>
        <p:spPr>
          <a:xfrm>
            <a:off x="0" y="1395075"/>
            <a:ext cx="6096000" cy="26306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ángulo 12">
            <a:extLst>
              <a:ext uri="{FF2B5EF4-FFF2-40B4-BE49-F238E27FC236}">
                <a16:creationId xmlns:a16="http://schemas.microsoft.com/office/drawing/2014/main" id="{F4EBD279-B42F-D0F7-C20C-E21C19FDB8D8}"/>
              </a:ext>
            </a:extLst>
          </p:cNvPr>
          <p:cNvSpPr/>
          <p:nvPr/>
        </p:nvSpPr>
        <p:spPr>
          <a:xfrm>
            <a:off x="6108954" y="1395074"/>
            <a:ext cx="6096000" cy="26306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3900AA39-D28F-B621-35B8-573ECDAFA36E}"/>
              </a:ext>
            </a:extLst>
          </p:cNvPr>
          <p:cNvSpPr txBox="1"/>
          <p:nvPr/>
        </p:nvSpPr>
        <p:spPr>
          <a:xfrm>
            <a:off x="1295400" y="1395074"/>
            <a:ext cx="3124200" cy="369332"/>
          </a:xfrm>
          <a:prstGeom prst="rect">
            <a:avLst/>
          </a:prstGeom>
          <a:noFill/>
        </p:spPr>
        <p:txBody>
          <a:bodyPr wrap="square" rtlCol="0">
            <a:spAutoFit/>
          </a:bodyPr>
          <a:lstStyle/>
          <a:p>
            <a:pPr algn="ctr"/>
            <a:r>
              <a:rPr lang="es-ES" b="1" dirty="0"/>
              <a:t>MODOS TE</a:t>
            </a:r>
          </a:p>
        </p:txBody>
      </p:sp>
      <p:pic>
        <p:nvPicPr>
          <p:cNvPr id="17" name="Imagen 16" descr="Gráfico&#10;&#10;Descripción generada automáticamente">
            <a:extLst>
              <a:ext uri="{FF2B5EF4-FFF2-40B4-BE49-F238E27FC236}">
                <a16:creationId xmlns:a16="http://schemas.microsoft.com/office/drawing/2014/main" id="{0399C7F5-4610-4A69-EF68-A4053B51BEB0}"/>
              </a:ext>
            </a:extLst>
          </p:cNvPr>
          <p:cNvPicPr>
            <a:picLocks noChangeAspect="1"/>
          </p:cNvPicPr>
          <p:nvPr/>
        </p:nvPicPr>
        <p:blipFill rotWithShape="1">
          <a:blip r:embed="rId6">
            <a:extLst>
              <a:ext uri="{28A0092B-C50C-407E-A947-70E740481C1C}">
                <a14:useLocalDpi xmlns:a14="http://schemas.microsoft.com/office/drawing/2010/main" val="0"/>
              </a:ext>
            </a:extLst>
          </a:blip>
          <a:srcRect l="3211"/>
          <a:stretch/>
        </p:blipFill>
        <p:spPr>
          <a:xfrm>
            <a:off x="6132576" y="1714697"/>
            <a:ext cx="3076957" cy="1991394"/>
          </a:xfrm>
          <a:prstGeom prst="rect">
            <a:avLst/>
          </a:prstGeom>
        </p:spPr>
      </p:pic>
      <p:pic>
        <p:nvPicPr>
          <p:cNvPr id="19" name="Imagen 18" descr="Gráfico&#10;&#10;Descripción generada automáticamente">
            <a:extLst>
              <a:ext uri="{FF2B5EF4-FFF2-40B4-BE49-F238E27FC236}">
                <a16:creationId xmlns:a16="http://schemas.microsoft.com/office/drawing/2014/main" id="{815EF9E0-FFBA-2959-4356-AD42FC0C76E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7810" y="1785108"/>
            <a:ext cx="2989337" cy="1920983"/>
          </a:xfrm>
          <a:prstGeom prst="rect">
            <a:avLst/>
          </a:prstGeom>
        </p:spPr>
      </p:pic>
      <p:sp>
        <p:nvSpPr>
          <p:cNvPr id="20" name="CuadroTexto 19">
            <a:extLst>
              <a:ext uri="{FF2B5EF4-FFF2-40B4-BE49-F238E27FC236}">
                <a16:creationId xmlns:a16="http://schemas.microsoft.com/office/drawing/2014/main" id="{2B28CD82-3EC8-9FC5-9ACE-B6722328378F}"/>
              </a:ext>
            </a:extLst>
          </p:cNvPr>
          <p:cNvSpPr txBox="1"/>
          <p:nvPr/>
        </p:nvSpPr>
        <p:spPr>
          <a:xfrm>
            <a:off x="7518278" y="1380571"/>
            <a:ext cx="3124200" cy="369332"/>
          </a:xfrm>
          <a:prstGeom prst="rect">
            <a:avLst/>
          </a:prstGeom>
          <a:noFill/>
        </p:spPr>
        <p:txBody>
          <a:bodyPr wrap="square" rtlCol="0">
            <a:spAutoFit/>
          </a:bodyPr>
          <a:lstStyle/>
          <a:p>
            <a:pPr algn="ctr"/>
            <a:r>
              <a:rPr lang="es-ES" b="1" dirty="0"/>
              <a:t>MODOS TM</a:t>
            </a:r>
          </a:p>
        </p:txBody>
      </p:sp>
    </p:spTree>
    <p:extLst>
      <p:ext uri="{BB962C8B-B14F-4D97-AF65-F5344CB8AC3E}">
        <p14:creationId xmlns:p14="http://schemas.microsoft.com/office/powerpoint/2010/main" val="3067219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98206"/>
            <a:ext cx="11199971" cy="1015663"/>
          </a:xfrm>
          <a:prstGeom prst="rect">
            <a:avLst/>
          </a:prstGeom>
          <a:solidFill>
            <a:schemeClr val="bg1">
              <a:lumMod val="95000"/>
            </a:schemeClr>
          </a:solidFill>
          <a:ln w="28575">
            <a:solidFill>
              <a:srgbClr val="E0700D"/>
            </a:solidFill>
          </a:ln>
        </p:spPr>
        <p:txBody>
          <a:bodyPr wrap="square" rtlCol="0">
            <a:spAutoFit/>
          </a:bodyPr>
          <a:lstStyle/>
          <a:p>
            <a:r>
              <a:rPr lang="es-ES" sz="1200" dirty="0"/>
              <a:t>En la figura se representa el coeficiente de acoplo K en función de la relación L/L</a:t>
            </a:r>
            <a:r>
              <a:rPr lang="el-GR" sz="1200" dirty="0"/>
              <a:t>π. </a:t>
            </a:r>
            <a:r>
              <a:rPr lang="es-ES" sz="1200" dirty="0"/>
              <a:t>Se observa que la curva presenta un comportamiento periódico de tipo sen², lo que indica que la transferencia de potencia entre las guías varía de forma oscilatoria a lo largo del acoplador.</a:t>
            </a:r>
          </a:p>
          <a:p>
            <a:r>
              <a:rPr lang="es-ES" sz="1200" dirty="0"/>
              <a:t>A partir de la gráfica, se puede ver que cuando L=L</a:t>
            </a:r>
            <a:r>
              <a:rPr lang="el-GR" sz="1200" dirty="0"/>
              <a:t>π, </a:t>
            </a:r>
            <a:r>
              <a:rPr lang="es-ES" sz="1200" dirty="0"/>
              <a:t>el acoplo es máximo (K=1), lo que significa que toda la potencia se transfiere de una guía a la otra. En cambio, para L=L</a:t>
            </a:r>
            <a:r>
              <a:rPr lang="el-GR" sz="1200" dirty="0"/>
              <a:t>π/2, </a:t>
            </a:r>
            <a:r>
              <a:rPr lang="es-ES" sz="1200" dirty="0"/>
              <a:t>el acoplador actúa como un divisor 50/50, repartiéndose la potencia entre ambas guías.</a:t>
            </a:r>
          </a:p>
          <a:p>
            <a:r>
              <a:rPr lang="es-ES" sz="1200" dirty="0"/>
              <a:t>Además, se observa que el comportamiento se repite periódicamente, por lo que es posible diseñar el acoplador ajustando su longitud para obtener el nivel de acoplo deseado.</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descr="Gráfico, Gráfico de líneas&#10;&#10;Descripción generada automáticamente">
            <a:extLst>
              <a:ext uri="{FF2B5EF4-FFF2-40B4-BE49-F238E27FC236}">
                <a16:creationId xmlns:a16="http://schemas.microsoft.com/office/drawing/2014/main" id="{5B0E8D80-1682-9918-D199-1FE427128B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23234" y="1486096"/>
            <a:ext cx="4473575" cy="3148176"/>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600" y="1356630"/>
            <a:ext cx="4946904" cy="43761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9FAFE4BA-3C67-FAB4-5F57-BB5BF9B8C7C7}"/>
              </a:ext>
            </a:extLst>
          </p:cNvPr>
          <p:cNvSpPr/>
          <p:nvPr/>
        </p:nvSpPr>
        <p:spPr>
          <a:xfrm>
            <a:off x="6507677" y="1356629"/>
            <a:ext cx="4946904" cy="43761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Gráfico, Gráfico de barras&#10;&#10;Descripción generada automáticamente">
            <a:extLst>
              <a:ext uri="{FF2B5EF4-FFF2-40B4-BE49-F238E27FC236}">
                <a16:creationId xmlns:a16="http://schemas.microsoft.com/office/drawing/2014/main" id="{4ECBE51D-0AE9-39A8-C62C-3F5FE453D07C}"/>
              </a:ext>
            </a:extLst>
          </p:cNvPr>
          <p:cNvPicPr>
            <a:picLocks noChangeAspect="1"/>
          </p:cNvPicPr>
          <p:nvPr/>
        </p:nvPicPr>
        <p:blipFill rotWithShape="1">
          <a:blip r:embed="rId4">
            <a:extLst>
              <a:ext uri="{28A0092B-C50C-407E-A947-70E740481C1C}">
                <a14:useLocalDpi xmlns:a14="http://schemas.microsoft.com/office/drawing/2010/main" val="0"/>
              </a:ext>
            </a:extLst>
          </a:blip>
          <a:srcRect r="8279"/>
          <a:stretch/>
        </p:blipFill>
        <p:spPr>
          <a:xfrm>
            <a:off x="706939" y="1874676"/>
            <a:ext cx="4800600" cy="3340100"/>
          </a:xfrm>
          <a:prstGeom prst="rect">
            <a:avLst/>
          </a:prstGeom>
        </p:spPr>
      </p:pic>
      <p:sp>
        <p:nvSpPr>
          <p:cNvPr id="9" name="CuadroTexto 8">
            <a:extLst>
              <a:ext uri="{FF2B5EF4-FFF2-40B4-BE49-F238E27FC236}">
                <a16:creationId xmlns:a16="http://schemas.microsoft.com/office/drawing/2014/main" id="{56EF527E-1018-AC0E-BF84-4B1F8DC11153}"/>
              </a:ext>
            </a:extLst>
          </p:cNvPr>
          <p:cNvSpPr txBox="1"/>
          <p:nvPr/>
        </p:nvSpPr>
        <p:spPr>
          <a:xfrm>
            <a:off x="1295400" y="1395074"/>
            <a:ext cx="3124200" cy="369332"/>
          </a:xfrm>
          <a:prstGeom prst="rect">
            <a:avLst/>
          </a:prstGeom>
          <a:noFill/>
        </p:spPr>
        <p:txBody>
          <a:bodyPr wrap="square" rtlCol="0">
            <a:spAutoFit/>
          </a:bodyPr>
          <a:lstStyle/>
          <a:p>
            <a:pPr algn="ctr"/>
            <a:r>
              <a:rPr lang="es-ES" b="1" dirty="0"/>
              <a:t>Gap = 0.2 </a:t>
            </a:r>
            <a:r>
              <a:rPr lang="es-ES" b="1" dirty="0" err="1"/>
              <a:t>um</a:t>
            </a:r>
            <a:endParaRPr lang="es-ES" b="1" dirty="0"/>
          </a:p>
        </p:txBody>
      </p:sp>
      <p:pic>
        <p:nvPicPr>
          <p:cNvPr id="11" name="Imagen 10" descr="Gráfico, Gráfico de barras&#10;&#10;Descripción generada automáticamente">
            <a:extLst>
              <a:ext uri="{FF2B5EF4-FFF2-40B4-BE49-F238E27FC236}">
                <a16:creationId xmlns:a16="http://schemas.microsoft.com/office/drawing/2014/main" id="{362F1724-77EB-F9CA-FD25-F74C41E20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6101" y="1868580"/>
            <a:ext cx="4830056" cy="3063164"/>
          </a:xfrm>
          <a:prstGeom prst="rect">
            <a:avLst/>
          </a:prstGeom>
        </p:spPr>
      </p:pic>
      <p:sp>
        <p:nvSpPr>
          <p:cNvPr id="12" name="CuadroTexto 11">
            <a:extLst>
              <a:ext uri="{FF2B5EF4-FFF2-40B4-BE49-F238E27FC236}">
                <a16:creationId xmlns:a16="http://schemas.microsoft.com/office/drawing/2014/main" id="{DBA5524B-D48D-E301-EACB-B57BCCCECE0C}"/>
              </a:ext>
            </a:extLst>
          </p:cNvPr>
          <p:cNvSpPr txBox="1"/>
          <p:nvPr/>
        </p:nvSpPr>
        <p:spPr>
          <a:xfrm>
            <a:off x="7589520" y="1389988"/>
            <a:ext cx="3124200" cy="369332"/>
          </a:xfrm>
          <a:prstGeom prst="rect">
            <a:avLst/>
          </a:prstGeom>
          <a:noFill/>
        </p:spPr>
        <p:txBody>
          <a:bodyPr wrap="square" rtlCol="0">
            <a:spAutoFit/>
          </a:bodyPr>
          <a:lstStyle/>
          <a:p>
            <a:pPr algn="ctr"/>
            <a:r>
              <a:rPr lang="es-ES" b="1" dirty="0"/>
              <a:t>Gap = 0.4um</a:t>
            </a:r>
          </a:p>
        </p:txBody>
      </p:sp>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600" y="1356630"/>
            <a:ext cx="4946904" cy="43761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9FAFE4BA-3C67-FAB4-5F57-BB5BF9B8C7C7}"/>
              </a:ext>
            </a:extLst>
          </p:cNvPr>
          <p:cNvSpPr/>
          <p:nvPr/>
        </p:nvSpPr>
        <p:spPr>
          <a:xfrm>
            <a:off x="6507677" y="1356629"/>
            <a:ext cx="4946904" cy="43761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6EF527E-1018-AC0E-BF84-4B1F8DC11153}"/>
              </a:ext>
            </a:extLst>
          </p:cNvPr>
          <p:cNvSpPr txBox="1"/>
          <p:nvPr/>
        </p:nvSpPr>
        <p:spPr>
          <a:xfrm>
            <a:off x="1295400" y="1395074"/>
            <a:ext cx="3124200" cy="369332"/>
          </a:xfrm>
          <a:prstGeom prst="rect">
            <a:avLst/>
          </a:prstGeom>
          <a:noFill/>
        </p:spPr>
        <p:txBody>
          <a:bodyPr wrap="square" rtlCol="0">
            <a:spAutoFit/>
          </a:bodyPr>
          <a:lstStyle/>
          <a:p>
            <a:pPr algn="ctr"/>
            <a:r>
              <a:rPr lang="es-ES" b="1" dirty="0"/>
              <a:t>Gap = 0.6 </a:t>
            </a:r>
            <a:r>
              <a:rPr lang="es-ES" b="1" dirty="0" err="1"/>
              <a:t>um</a:t>
            </a:r>
            <a:endParaRPr lang="es-ES" b="1" dirty="0"/>
          </a:p>
        </p:txBody>
      </p:sp>
      <p:sp>
        <p:nvSpPr>
          <p:cNvPr id="12" name="CuadroTexto 11">
            <a:extLst>
              <a:ext uri="{FF2B5EF4-FFF2-40B4-BE49-F238E27FC236}">
                <a16:creationId xmlns:a16="http://schemas.microsoft.com/office/drawing/2014/main" id="{DBA5524B-D48D-E301-EACB-B57BCCCECE0C}"/>
              </a:ext>
            </a:extLst>
          </p:cNvPr>
          <p:cNvSpPr txBox="1"/>
          <p:nvPr/>
        </p:nvSpPr>
        <p:spPr>
          <a:xfrm>
            <a:off x="7589520" y="1389988"/>
            <a:ext cx="3124200" cy="369332"/>
          </a:xfrm>
          <a:prstGeom prst="rect">
            <a:avLst/>
          </a:prstGeom>
          <a:noFill/>
        </p:spPr>
        <p:txBody>
          <a:bodyPr wrap="square" rtlCol="0">
            <a:spAutoFit/>
          </a:bodyPr>
          <a:lstStyle/>
          <a:p>
            <a:pPr algn="ctr"/>
            <a:r>
              <a:rPr lang="es-ES" b="1" dirty="0"/>
              <a:t>Gap = 0.8 </a:t>
            </a:r>
            <a:r>
              <a:rPr lang="es-ES" b="1" dirty="0" err="1"/>
              <a:t>um</a:t>
            </a:r>
            <a:endParaRPr lang="es-ES" b="1" dirty="0"/>
          </a:p>
        </p:txBody>
      </p:sp>
      <p:pic>
        <p:nvPicPr>
          <p:cNvPr id="5" name="Imagen 4" descr="Gráfico, Gráfico de barras&#10;&#10;Descripción generada automáticamente">
            <a:extLst>
              <a:ext uri="{FF2B5EF4-FFF2-40B4-BE49-F238E27FC236}">
                <a16:creationId xmlns:a16="http://schemas.microsoft.com/office/drawing/2014/main" id="{713E05EA-C620-CA4D-2357-45F63F67AC29}"/>
              </a:ext>
            </a:extLst>
          </p:cNvPr>
          <p:cNvPicPr>
            <a:picLocks noChangeAspect="1"/>
          </p:cNvPicPr>
          <p:nvPr/>
        </p:nvPicPr>
        <p:blipFill rotWithShape="1">
          <a:blip r:embed="rId4">
            <a:extLst>
              <a:ext uri="{28A0092B-C50C-407E-A947-70E740481C1C}">
                <a14:useLocalDpi xmlns:a14="http://schemas.microsoft.com/office/drawing/2010/main" val="0"/>
              </a:ext>
            </a:extLst>
          </a:blip>
          <a:srcRect t="2492"/>
          <a:stretch/>
        </p:blipFill>
        <p:spPr>
          <a:xfrm>
            <a:off x="652075" y="2133600"/>
            <a:ext cx="4816861" cy="2743200"/>
          </a:xfrm>
          <a:prstGeom prst="rect">
            <a:avLst/>
          </a:prstGeom>
        </p:spPr>
      </p:pic>
      <p:pic>
        <p:nvPicPr>
          <p:cNvPr id="10" name="Imagen 9" descr="Imagen que contiene Gráfico&#10;&#10;Descripción generada automáticamente">
            <a:extLst>
              <a:ext uri="{FF2B5EF4-FFF2-40B4-BE49-F238E27FC236}">
                <a16:creationId xmlns:a16="http://schemas.microsoft.com/office/drawing/2014/main" id="{AC2BDFC1-5B84-F21B-82D7-F341B94A1BB6}"/>
              </a:ext>
            </a:extLst>
          </p:cNvPr>
          <p:cNvPicPr>
            <a:picLocks noChangeAspect="1"/>
          </p:cNvPicPr>
          <p:nvPr/>
        </p:nvPicPr>
        <p:blipFill rotWithShape="1">
          <a:blip r:embed="rId5">
            <a:extLst>
              <a:ext uri="{28A0092B-C50C-407E-A947-70E740481C1C}">
                <a14:useLocalDpi xmlns:a14="http://schemas.microsoft.com/office/drawing/2010/main" val="0"/>
              </a:ext>
            </a:extLst>
          </a:blip>
          <a:srcRect t="1427"/>
          <a:stretch/>
        </p:blipFill>
        <p:spPr>
          <a:xfrm>
            <a:off x="6588400" y="2209800"/>
            <a:ext cx="4785458" cy="2630642"/>
          </a:xfrm>
          <a:prstGeom prst="rect">
            <a:avLst/>
          </a:prstGeom>
        </p:spPr>
      </p:pic>
    </p:spTree>
    <p:extLst>
      <p:ext uri="{BB962C8B-B14F-4D97-AF65-F5344CB8AC3E}">
        <p14:creationId xmlns:p14="http://schemas.microsoft.com/office/powerpoint/2010/main" val="207061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4073630" y="1306289"/>
            <a:ext cx="4946904" cy="43761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6EF527E-1018-AC0E-BF84-4B1F8DC11153}"/>
              </a:ext>
            </a:extLst>
          </p:cNvPr>
          <p:cNvSpPr txBox="1"/>
          <p:nvPr/>
        </p:nvSpPr>
        <p:spPr>
          <a:xfrm>
            <a:off x="4759430" y="1344733"/>
            <a:ext cx="3124200" cy="369332"/>
          </a:xfrm>
          <a:prstGeom prst="rect">
            <a:avLst/>
          </a:prstGeom>
          <a:noFill/>
        </p:spPr>
        <p:txBody>
          <a:bodyPr wrap="square" rtlCol="0">
            <a:spAutoFit/>
          </a:bodyPr>
          <a:lstStyle/>
          <a:p>
            <a:pPr algn="ctr"/>
            <a:r>
              <a:rPr lang="es-ES" b="1" dirty="0"/>
              <a:t>Gap = 1 </a:t>
            </a:r>
            <a:r>
              <a:rPr lang="es-ES" b="1" dirty="0" err="1"/>
              <a:t>um</a:t>
            </a:r>
            <a:endParaRPr lang="es-ES" b="1" dirty="0"/>
          </a:p>
        </p:txBody>
      </p:sp>
      <p:pic>
        <p:nvPicPr>
          <p:cNvPr id="5" name="Imagen 4" descr="Imagen que contiene Escala de tiempo&#10;&#10;Descripción generada automáticamente">
            <a:extLst>
              <a:ext uri="{FF2B5EF4-FFF2-40B4-BE49-F238E27FC236}">
                <a16:creationId xmlns:a16="http://schemas.microsoft.com/office/drawing/2014/main" id="{2670FDAC-2D18-5A53-5BA6-3022C746F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4800" y="2209800"/>
            <a:ext cx="4844588" cy="2616659"/>
          </a:xfrm>
          <a:prstGeom prst="rect">
            <a:avLst/>
          </a:prstGeom>
        </p:spPr>
      </p:pic>
    </p:spTree>
    <p:extLst>
      <p:ext uri="{BB962C8B-B14F-4D97-AF65-F5344CB8AC3E}">
        <p14:creationId xmlns:p14="http://schemas.microsoft.com/office/powerpoint/2010/main" val="3229174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1003765" y="542398"/>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11" name="CuadroTexto 10">
            <a:extLst>
              <a:ext uri="{FF2B5EF4-FFF2-40B4-BE49-F238E27FC236}">
                <a16:creationId xmlns:a16="http://schemas.microsoft.com/office/drawing/2014/main" id="{90524AEC-AD26-31BF-92D6-1E9F924AEEB0}"/>
              </a:ext>
            </a:extLst>
          </p:cNvPr>
          <p:cNvSpPr txBox="1"/>
          <p:nvPr/>
        </p:nvSpPr>
        <p:spPr>
          <a:xfrm>
            <a:off x="870592" y="2074978"/>
            <a:ext cx="10450815" cy="2062103"/>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t>Al variar la separación entre las guías (gap), se observa que la longitud de acoplamiento L</a:t>
            </a:r>
            <a:r>
              <a:rPr lang="el-GR" sz="1600" dirty="0"/>
              <a:t>π </a:t>
            </a:r>
            <a:r>
              <a:rPr lang="es-ES" sz="1600" dirty="0"/>
              <a:t>aumenta significativamente al incrementar dicha distancia. Este comportamiento se debe a que, al separar más las guías, disminuye el solapamiento de los campos evanescentes, reduciendo el acoplo entre ellas y haciendo necesaria una mayor longitud para transferir la potencia.</a:t>
            </a:r>
          </a:p>
          <a:p>
            <a:pPr algn="just"/>
            <a:r>
              <a:rPr lang="es-ES" sz="1600" dirty="0"/>
              <a:t>Por el contrario, para valores pequeños de gap, el acoplamiento es más fuerte y la transferencia de potencia se produce en distancias más cortas.</a:t>
            </a:r>
          </a:p>
          <a:p>
            <a:pPr algn="just"/>
            <a:r>
              <a:rPr lang="es-ES" sz="1600" dirty="0"/>
              <a:t>A pesar de estos cambios, el reparto de potencia entre los puertos de salida se mantiene cercano a 50/50 cuando se ajusta correctamente la longitud del acoplador.</a:t>
            </a:r>
          </a:p>
          <a:p>
            <a:pPr algn="just"/>
            <a:r>
              <a:rPr lang="es-ES" sz="1600" dirty="0"/>
              <a:t>En cuanto a las pérdidas, se observa que dependen del gap, siendo generalmente menores para valores intermedios.</a:t>
            </a:r>
          </a:p>
        </p:txBody>
      </p:sp>
    </p:spTree>
    <p:extLst>
      <p:ext uri="{BB962C8B-B14F-4D97-AF65-F5344CB8AC3E}">
        <p14:creationId xmlns:p14="http://schemas.microsoft.com/office/powerpoint/2010/main" val="2215561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928834"/>
            <a:ext cx="11199971" cy="892552"/>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este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apartado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hemos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obtenido</a:t>
            </a:r>
            <a:r>
              <a:rPr lang="en-US" sz="1400" dirty="0">
                <a:latin typeface="Arial" panose="020B0604020202020204" pitchFamily="34" charset="0"/>
                <a:cs typeface="Arial" panose="020B0604020202020204" pitchFamily="34" charset="0"/>
              </a:rPr>
              <a:t> la </a:t>
            </a:r>
            <a:r>
              <a:rPr lang="en-US" sz="1400" dirty="0" err="1">
                <a:latin typeface="Arial" panose="020B0604020202020204" pitchFamily="34" charset="0"/>
                <a:cs typeface="Arial" panose="020B0604020202020204" pitchFamily="34" charset="0"/>
              </a:rPr>
              <a:t>representación</a:t>
            </a:r>
            <a:r>
              <a:rPr lang="en-US" sz="1400" dirty="0">
                <a:latin typeface="Arial" panose="020B0604020202020204" pitchFamily="34" charset="0"/>
                <a:cs typeface="Arial" panose="020B0604020202020204" pitchFamily="34" charset="0"/>
              </a:rPr>
              <a:t> del </a:t>
            </a:r>
            <a:r>
              <a:rPr lang="en-US" sz="1400" dirty="0" err="1">
                <a:latin typeface="Arial" panose="020B0604020202020204" pitchFamily="34" charset="0"/>
                <a:cs typeface="Arial" panose="020B0604020202020204" pitchFamily="34" charset="0"/>
              </a:rPr>
              <a:t>coeficiente</a:t>
            </a:r>
            <a:r>
              <a:rPr lang="en-US" sz="1400" dirty="0">
                <a:latin typeface="Arial" panose="020B0604020202020204" pitchFamily="34" charset="0"/>
                <a:cs typeface="Arial" panose="020B0604020202020204" pitchFamily="34" charset="0"/>
              </a:rPr>
              <a:t> de </a:t>
            </a:r>
            <a:r>
              <a:rPr lang="en-US" sz="1400" dirty="0" err="1">
                <a:latin typeface="Arial" panose="020B0604020202020204" pitchFamily="34" charset="0"/>
                <a:cs typeface="Arial" panose="020B0604020202020204" pitchFamily="34" charset="0"/>
              </a:rPr>
              <a:t>acoplo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función</a:t>
            </a:r>
            <a:r>
              <a:rPr lang="en-US" sz="1400" dirty="0">
                <a:latin typeface="Arial" panose="020B0604020202020204" pitchFamily="34" charset="0"/>
                <a:cs typeface="Arial" panose="020B0604020202020204" pitchFamily="34" charset="0"/>
              </a:rPr>
              <a:t> del gap para la </a:t>
            </a:r>
            <a:r>
              <a:rPr lang="en-US" sz="1400" dirty="0" err="1">
                <a:latin typeface="Arial" panose="020B0604020202020204" pitchFamily="34" charset="0"/>
                <a:cs typeface="Arial" panose="020B0604020202020204" pitchFamily="34" charset="0"/>
              </a:rPr>
              <a:t>guía</a:t>
            </a:r>
            <a:r>
              <a:rPr lang="en-US" sz="1400" dirty="0">
                <a:latin typeface="Arial" panose="020B0604020202020204" pitchFamily="34" charset="0"/>
                <a:cs typeface="Arial" panose="020B0604020202020204" pitchFamily="34" charset="0"/>
              </a:rPr>
              <a:t> Deep y para la </a:t>
            </a:r>
            <a:r>
              <a:rPr lang="en-US" sz="1400" dirty="0" err="1">
                <a:latin typeface="Arial" panose="020B0604020202020204" pitchFamily="34" charset="0"/>
                <a:cs typeface="Arial" panose="020B0604020202020204" pitchFamily="34" charset="0"/>
              </a:rPr>
              <a:t>guía</a:t>
            </a:r>
            <a:r>
              <a:rPr lang="en-US" sz="1400" dirty="0">
                <a:latin typeface="Arial" panose="020B0604020202020204" pitchFamily="34" charset="0"/>
                <a:cs typeface="Arial" panose="020B0604020202020204" pitchFamily="34" charset="0"/>
              </a:rPr>
              <a:t> Shallow. Se </a:t>
            </a:r>
            <a:r>
              <a:rPr lang="en-US" sz="1400" dirty="0" err="1">
                <a:latin typeface="Arial" panose="020B0604020202020204" pitchFamily="34" charset="0"/>
                <a:cs typeface="Arial" panose="020B0604020202020204" pitchFamily="34" charset="0"/>
              </a:rPr>
              <a:t>observa</a:t>
            </a:r>
            <a:r>
              <a:rPr lang="en-US" sz="1400" dirty="0">
                <a:latin typeface="Arial" panose="020B0604020202020204" pitchFamily="34" charset="0"/>
                <a:cs typeface="Arial" panose="020B0604020202020204" pitchFamily="34" charset="0"/>
              </a:rPr>
              <a:t> que para la </a:t>
            </a:r>
            <a:r>
              <a:rPr lang="en-US" sz="1400" dirty="0" err="1">
                <a:latin typeface="Arial" panose="020B0604020202020204" pitchFamily="34" charset="0"/>
                <a:cs typeface="Arial" panose="020B0604020202020204" pitchFamily="34" charset="0"/>
              </a:rPr>
              <a:t>guía</a:t>
            </a:r>
            <a:r>
              <a:rPr lang="en-US" sz="1400" dirty="0">
                <a:latin typeface="Arial" panose="020B0604020202020204" pitchFamily="34" charset="0"/>
                <a:cs typeface="Arial" panose="020B0604020202020204" pitchFamily="34" charset="0"/>
              </a:rPr>
              <a:t> Deep, a </a:t>
            </a:r>
            <a:r>
              <a:rPr lang="en-US" sz="1400" dirty="0" err="1">
                <a:latin typeface="Arial" panose="020B0604020202020204" pitchFamily="34" charset="0"/>
                <a:cs typeface="Arial" panose="020B0604020202020204" pitchFamily="34" charset="0"/>
              </a:rPr>
              <a:t>partir</a:t>
            </a:r>
            <a:r>
              <a:rPr lang="en-US" sz="1400" dirty="0">
                <a:latin typeface="Arial" panose="020B0604020202020204" pitchFamily="34" charset="0"/>
                <a:cs typeface="Arial" panose="020B0604020202020204" pitchFamily="34" charset="0"/>
              </a:rPr>
              <a:t> de un gap de </a:t>
            </a:r>
            <a:r>
              <a:rPr lang="en-US" sz="1400" dirty="0" err="1">
                <a:latin typeface="Arial" panose="020B0604020202020204" pitchFamily="34" charset="0"/>
                <a:cs typeface="Arial" panose="020B0604020202020204" pitchFamily="34" charset="0"/>
              </a:rPr>
              <a:t>aproximadamente</a:t>
            </a:r>
            <a:r>
              <a:rPr lang="en-US" sz="1400" dirty="0">
                <a:latin typeface="Arial" panose="020B0604020202020204" pitchFamily="34" charset="0"/>
                <a:cs typeface="Arial" panose="020B0604020202020204" pitchFamily="34" charset="0"/>
              </a:rPr>
              <a:t> 3.4 um, la </a:t>
            </a:r>
            <a:r>
              <a:rPr lang="en-US" sz="1400" dirty="0" err="1">
                <a:latin typeface="Arial" panose="020B0604020202020204" pitchFamily="34" charset="0"/>
                <a:cs typeface="Arial" panose="020B0604020202020204" pitchFamily="34" charset="0"/>
              </a:rPr>
              <a:t>guía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ya</a:t>
            </a:r>
            <a:r>
              <a:rPr lang="en-US" sz="1400" dirty="0">
                <a:latin typeface="Arial" panose="020B0604020202020204" pitchFamily="34" charset="0"/>
                <a:cs typeface="Arial" panose="020B0604020202020204" pitchFamily="34" charset="0"/>
              </a:rPr>
              <a:t> no </a:t>
            </a:r>
            <a:r>
              <a:rPr lang="en-US" sz="1400" dirty="0" err="1">
                <a:latin typeface="Arial" panose="020B0604020202020204" pitchFamily="34" charset="0"/>
                <a:cs typeface="Arial" panose="020B0604020202020204" pitchFamily="34" charset="0"/>
              </a:rPr>
              <a:t>estaría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acoplada</a:t>
            </a:r>
            <a:r>
              <a:rPr lang="en-US" sz="14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Gráfico, Gráfico de líneas&#10;&#10;Descripción generada automáticamente">
            <a:extLst>
              <a:ext uri="{FF2B5EF4-FFF2-40B4-BE49-F238E27FC236}">
                <a16:creationId xmlns:a16="http://schemas.microsoft.com/office/drawing/2014/main" id="{ED600D56-4C94-4708-D01F-A95D48278C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1" y="1256299"/>
            <a:ext cx="4267200" cy="3242236"/>
          </a:xfrm>
          <a:prstGeom prst="rect">
            <a:avLst/>
          </a:prstGeom>
        </p:spPr>
      </p:pic>
      <p:cxnSp>
        <p:nvCxnSpPr>
          <p:cNvPr id="11" name="Conector recto 10">
            <a:extLst>
              <a:ext uri="{FF2B5EF4-FFF2-40B4-BE49-F238E27FC236}">
                <a16:creationId xmlns:a16="http://schemas.microsoft.com/office/drawing/2014/main" id="{3CE519DB-3B56-0269-EA7D-12C2373ABC3F}"/>
              </a:ext>
            </a:extLst>
          </p:cNvPr>
          <p:cNvCxnSpPr>
            <a:cxnSpLocks/>
          </p:cNvCxnSpPr>
          <p:nvPr/>
        </p:nvCxnSpPr>
        <p:spPr>
          <a:xfrm>
            <a:off x="1676400" y="3957824"/>
            <a:ext cx="3505200" cy="0"/>
          </a:xfrm>
          <a:prstGeom prst="line">
            <a:avLst/>
          </a:prstGeom>
          <a:ln w="19050"/>
        </p:spPr>
        <p:style>
          <a:lnRef idx="1">
            <a:schemeClr val="accent2"/>
          </a:lnRef>
          <a:fillRef idx="0">
            <a:schemeClr val="accent2"/>
          </a:fillRef>
          <a:effectRef idx="0">
            <a:schemeClr val="accent2"/>
          </a:effectRef>
          <a:fontRef idx="minor">
            <a:schemeClr val="tx1"/>
          </a:fontRef>
        </p:style>
      </p:cxnSp>
      <p:pic>
        <p:nvPicPr>
          <p:cNvPr id="8" name="Imagen 7">
            <a:extLst>
              <a:ext uri="{FF2B5EF4-FFF2-40B4-BE49-F238E27FC236}">
                <a16:creationId xmlns:a16="http://schemas.microsoft.com/office/drawing/2014/main" id="{B023C771-59F9-4F21-1E5C-969737EF68BE}"/>
              </a:ext>
            </a:extLst>
          </p:cNvPr>
          <p:cNvPicPr>
            <a:picLocks noChangeAspect="1"/>
          </p:cNvPicPr>
          <p:nvPr/>
        </p:nvPicPr>
        <p:blipFill>
          <a:blip r:embed="rId5"/>
          <a:stretch>
            <a:fillRect/>
          </a:stretch>
        </p:blipFill>
        <p:spPr>
          <a:xfrm>
            <a:off x="7084464" y="1256299"/>
            <a:ext cx="3960477" cy="317816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1227102" y="914401"/>
            <a:ext cx="10279097" cy="26670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Interfaz de usuario gráfica, Aplicación, Word&#10;&#10;Descripción generada automáticamente">
            <a:extLst>
              <a:ext uri="{FF2B5EF4-FFF2-40B4-BE49-F238E27FC236}">
                <a16:creationId xmlns:a16="http://schemas.microsoft.com/office/drawing/2014/main" id="{B57213F3-087D-1ACE-09FA-695FB99D9A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5986" y="966602"/>
            <a:ext cx="3141864" cy="2157598"/>
          </a:xfrm>
          <a:prstGeom prst="rect">
            <a:avLst/>
          </a:prstGeom>
        </p:spPr>
      </p:pic>
      <p:pic>
        <p:nvPicPr>
          <p:cNvPr id="10" name="Imagen 9" descr="Interfaz de usuario gráfica&#10;&#10;Descripción generada automáticamente con confianza baja">
            <a:extLst>
              <a:ext uri="{FF2B5EF4-FFF2-40B4-BE49-F238E27FC236}">
                <a16:creationId xmlns:a16="http://schemas.microsoft.com/office/drawing/2014/main" id="{5CC8C7A5-026C-8FCA-5D11-637DB24A29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1988" y="1000162"/>
            <a:ext cx="3187996" cy="2124038"/>
          </a:xfrm>
          <a:prstGeom prst="rect">
            <a:avLst/>
          </a:prstGeom>
        </p:spPr>
      </p:pic>
      <p:pic>
        <p:nvPicPr>
          <p:cNvPr id="14" name="Imagen 13" descr="Interfaz de usuario gráfica, Aplicación&#10;&#10;Descripción generada automáticamente">
            <a:extLst>
              <a:ext uri="{FF2B5EF4-FFF2-40B4-BE49-F238E27FC236}">
                <a16:creationId xmlns:a16="http://schemas.microsoft.com/office/drawing/2014/main" id="{4C0DB4AF-A30F-6E76-C633-111F082C50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1737" y="936237"/>
            <a:ext cx="3285606" cy="2323819"/>
          </a:xfrm>
          <a:prstGeom prst="rect">
            <a:avLst/>
          </a:prstGeom>
        </p:spPr>
      </p:pic>
      <p:sp>
        <p:nvSpPr>
          <p:cNvPr id="15" name="CuadroTexto 14">
            <a:extLst>
              <a:ext uri="{FF2B5EF4-FFF2-40B4-BE49-F238E27FC236}">
                <a16:creationId xmlns:a16="http://schemas.microsoft.com/office/drawing/2014/main" id="{BCE76372-D1E3-A203-3670-E63247F614B2}"/>
              </a:ext>
            </a:extLst>
          </p:cNvPr>
          <p:cNvSpPr txBox="1"/>
          <p:nvPr/>
        </p:nvSpPr>
        <p:spPr>
          <a:xfrm>
            <a:off x="1288346" y="2807070"/>
            <a:ext cx="3124200" cy="646331"/>
          </a:xfrm>
          <a:prstGeom prst="rect">
            <a:avLst/>
          </a:prstGeom>
          <a:noFill/>
        </p:spPr>
        <p:txBody>
          <a:bodyPr wrap="square" rtlCol="0">
            <a:spAutoFit/>
          </a:bodyPr>
          <a:lstStyle/>
          <a:p>
            <a:pPr algn="ctr"/>
            <a:r>
              <a:rPr lang="es-ES" b="1" dirty="0" err="1"/>
              <a:t>Model_index</a:t>
            </a:r>
            <a:r>
              <a:rPr lang="es-ES" b="1" dirty="0"/>
              <a:t> = 0</a:t>
            </a:r>
          </a:p>
          <a:p>
            <a:pPr algn="ctr"/>
            <a:r>
              <a:rPr lang="es-ES" b="1" dirty="0" err="1"/>
              <a:t>Neff</a:t>
            </a:r>
            <a:r>
              <a:rPr lang="es-ES" b="1" dirty="0"/>
              <a:t> = </a:t>
            </a:r>
            <a:r>
              <a:rPr lang="es-ES" dirty="0"/>
              <a:t>1.67865</a:t>
            </a:r>
            <a:endParaRPr lang="es-ES" b="1" dirty="0"/>
          </a:p>
        </p:txBody>
      </p:sp>
      <p:sp>
        <p:nvSpPr>
          <p:cNvPr id="17" name="CuadroTexto 16">
            <a:extLst>
              <a:ext uri="{FF2B5EF4-FFF2-40B4-BE49-F238E27FC236}">
                <a16:creationId xmlns:a16="http://schemas.microsoft.com/office/drawing/2014/main" id="{46DCE2A4-9471-FA5A-59A3-2243C1C3217D}"/>
              </a:ext>
            </a:extLst>
          </p:cNvPr>
          <p:cNvSpPr txBox="1"/>
          <p:nvPr/>
        </p:nvSpPr>
        <p:spPr>
          <a:xfrm>
            <a:off x="4346886" y="2685886"/>
            <a:ext cx="3124200" cy="646331"/>
          </a:xfrm>
          <a:prstGeom prst="rect">
            <a:avLst/>
          </a:prstGeom>
          <a:noFill/>
        </p:spPr>
        <p:txBody>
          <a:bodyPr wrap="square" rtlCol="0">
            <a:spAutoFit/>
          </a:bodyPr>
          <a:lstStyle/>
          <a:p>
            <a:pPr algn="ctr"/>
            <a:r>
              <a:rPr lang="es-ES" b="1" dirty="0" err="1"/>
              <a:t>Model_index</a:t>
            </a:r>
            <a:r>
              <a:rPr lang="es-ES" b="1" dirty="0"/>
              <a:t> = 1</a:t>
            </a:r>
          </a:p>
          <a:p>
            <a:pPr algn="ctr"/>
            <a:r>
              <a:rPr lang="es-ES" b="1" dirty="0" err="1"/>
              <a:t>Neff</a:t>
            </a:r>
            <a:r>
              <a:rPr lang="es-ES" b="1" dirty="0"/>
              <a:t> = </a:t>
            </a:r>
            <a:r>
              <a:rPr lang="es-ES" dirty="0"/>
              <a:t>1.67513</a:t>
            </a:r>
            <a:endParaRPr lang="es-ES" b="1" dirty="0"/>
          </a:p>
        </p:txBody>
      </p:sp>
      <p:sp>
        <p:nvSpPr>
          <p:cNvPr id="20" name="CuadroTexto 19">
            <a:extLst>
              <a:ext uri="{FF2B5EF4-FFF2-40B4-BE49-F238E27FC236}">
                <a16:creationId xmlns:a16="http://schemas.microsoft.com/office/drawing/2014/main" id="{412C1151-F3F2-D3B8-020C-434AAE5CC23D}"/>
              </a:ext>
            </a:extLst>
          </p:cNvPr>
          <p:cNvSpPr txBox="1"/>
          <p:nvPr/>
        </p:nvSpPr>
        <p:spPr>
          <a:xfrm>
            <a:off x="7699426" y="2628920"/>
            <a:ext cx="3124200" cy="646331"/>
          </a:xfrm>
          <a:prstGeom prst="rect">
            <a:avLst/>
          </a:prstGeom>
          <a:noFill/>
        </p:spPr>
        <p:txBody>
          <a:bodyPr wrap="square" rtlCol="0">
            <a:spAutoFit/>
          </a:bodyPr>
          <a:lstStyle/>
          <a:p>
            <a:pPr algn="ctr"/>
            <a:r>
              <a:rPr lang="es-ES" b="1" dirty="0" err="1"/>
              <a:t>Model_index</a:t>
            </a:r>
            <a:r>
              <a:rPr lang="es-ES" b="1" dirty="0"/>
              <a:t> = 2</a:t>
            </a:r>
          </a:p>
          <a:p>
            <a:pPr algn="ctr"/>
            <a:r>
              <a:rPr lang="es-ES" b="1" dirty="0" err="1"/>
              <a:t>Neff</a:t>
            </a:r>
            <a:r>
              <a:rPr lang="es-ES" b="1" dirty="0"/>
              <a:t> = </a:t>
            </a:r>
            <a:r>
              <a:rPr lang="es-ES" dirty="0"/>
              <a:t>1.60339</a:t>
            </a:r>
            <a:endParaRPr lang="es-ES" b="1" dirty="0"/>
          </a:p>
        </p:txBody>
      </p:sp>
      <p:sp>
        <p:nvSpPr>
          <p:cNvPr id="21" name="CuadroTexto 20">
            <a:extLst>
              <a:ext uri="{FF2B5EF4-FFF2-40B4-BE49-F238E27FC236}">
                <a16:creationId xmlns:a16="http://schemas.microsoft.com/office/drawing/2014/main" id="{1DCE4C87-81A5-70A4-8D68-BE87E159D1CC}"/>
              </a:ext>
            </a:extLst>
          </p:cNvPr>
          <p:cNvSpPr txBox="1"/>
          <p:nvPr/>
        </p:nvSpPr>
        <p:spPr>
          <a:xfrm>
            <a:off x="1227102" y="4176771"/>
            <a:ext cx="10279097" cy="1323439"/>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este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ejercicio</a:t>
            </a:r>
            <a:r>
              <a:rPr lang="en-US" sz="1400" dirty="0">
                <a:latin typeface="Arial" panose="020B0604020202020204" pitchFamily="34" charset="0"/>
                <a:cs typeface="Arial" panose="020B0604020202020204" pitchFamily="34" charset="0"/>
              </a:rPr>
              <a:t>, se </a:t>
            </a:r>
            <a:r>
              <a:rPr lang="en-US" sz="1400" dirty="0" err="1">
                <a:latin typeface="Arial" panose="020B0604020202020204" pitchFamily="34" charset="0"/>
                <a:cs typeface="Arial" panose="020B0604020202020204" pitchFamily="34" charset="0"/>
              </a:rPr>
              <a:t>han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simulado</a:t>
            </a:r>
            <a:r>
              <a:rPr lang="en-US" sz="1400" dirty="0">
                <a:latin typeface="Arial" panose="020B0604020202020204" pitchFamily="34" charset="0"/>
                <a:cs typeface="Arial" panose="020B0604020202020204" pitchFamily="34" charset="0"/>
              </a:rPr>
              <a:t> las </a:t>
            </a:r>
            <a:r>
              <a:rPr lang="en-US" sz="1400" dirty="0" err="1">
                <a:latin typeface="Arial" panose="020B0604020202020204" pitchFamily="34" charset="0"/>
                <a:cs typeface="Arial" panose="020B0604020202020204" pitchFamily="34" charset="0"/>
              </a:rPr>
              <a:t>distribuciones</a:t>
            </a:r>
            <a:r>
              <a:rPr lang="en-US" sz="1400" dirty="0">
                <a:latin typeface="Arial" panose="020B0604020202020204" pitchFamily="34" charset="0"/>
                <a:cs typeface="Arial" panose="020B0604020202020204" pitchFamily="34" charset="0"/>
              </a:rPr>
              <a:t> de campo </a:t>
            </a:r>
            <a:r>
              <a:rPr lang="en-US" sz="1400" dirty="0" err="1">
                <a:latin typeface="Arial" panose="020B0604020202020204" pitchFamily="34" charset="0"/>
                <a:cs typeface="Arial" panose="020B0604020202020204" pitchFamily="34" charset="0"/>
              </a:rPr>
              <a:t>eléctrico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la </a:t>
            </a:r>
            <a:r>
              <a:rPr lang="en-US" sz="1400" dirty="0" err="1">
                <a:latin typeface="Arial" panose="020B0604020202020204" pitchFamily="34" charset="0"/>
                <a:cs typeface="Arial" panose="020B0604020202020204" pitchFamily="34" charset="0"/>
              </a:rPr>
              <a:t>sección</a:t>
            </a:r>
            <a:r>
              <a:rPr lang="en-US" sz="1400" dirty="0">
                <a:latin typeface="Arial" panose="020B0604020202020204" pitchFamily="34" charset="0"/>
                <a:cs typeface="Arial" panose="020B0604020202020204" pitchFamily="34" charset="0"/>
              </a:rPr>
              <a:t> transversal del </a:t>
            </a:r>
            <a:r>
              <a:rPr lang="en-US" sz="1400" dirty="0" err="1">
                <a:latin typeface="Arial" panose="020B0604020202020204" pitchFamily="34" charset="0"/>
                <a:cs typeface="Arial" panose="020B0604020202020204" pitchFamily="34" charset="0"/>
              </a:rPr>
              <a:t>acoplador</a:t>
            </a:r>
            <a:r>
              <a:rPr lang="en-US" sz="1400" dirty="0">
                <a:latin typeface="Arial" panose="020B0604020202020204" pitchFamily="34" charset="0"/>
                <a:cs typeface="Arial" panose="020B0604020202020204" pitchFamily="34" charset="0"/>
              </a:rPr>
              <a:t> MMI para </a:t>
            </a:r>
            <a:r>
              <a:rPr lang="en-US" sz="1400" dirty="0" err="1">
                <a:latin typeface="Arial" panose="020B0604020202020204" pitchFamily="34" charset="0"/>
                <a:cs typeface="Arial" panose="020B0604020202020204" pitchFamily="34" charset="0"/>
              </a:rPr>
              <a:t>los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modos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guiados</a:t>
            </a:r>
            <a:r>
              <a:rPr lang="en-US" sz="1400" dirty="0">
                <a:latin typeface="Arial" panose="020B0604020202020204" pitchFamily="34" charset="0"/>
                <a:cs typeface="Arial" panose="020B0604020202020204" pitchFamily="34" charset="0"/>
              </a:rPr>
              <a:t> 0, 1 y 7. </a:t>
            </a:r>
            <a:r>
              <a:rPr lang="en-US" sz="1400" dirty="0" err="1">
                <a:latin typeface="Arial" panose="020B0604020202020204" pitchFamily="34" charset="0"/>
                <a:cs typeface="Arial" panose="020B0604020202020204" pitchFamily="34" charset="0"/>
              </a:rPr>
              <a:t>Vemos</a:t>
            </a:r>
            <a:r>
              <a:rPr lang="en-US" sz="1400" dirty="0">
                <a:latin typeface="Arial" panose="020B0604020202020204" pitchFamily="34" charset="0"/>
                <a:cs typeface="Arial" panose="020B0604020202020204" pitchFamily="34" charset="0"/>
              </a:rPr>
              <a:t> que para </a:t>
            </a:r>
            <a:r>
              <a:rPr lang="en-US" sz="1400" dirty="0" err="1">
                <a:latin typeface="Arial" panose="020B0604020202020204" pitchFamily="34" charset="0"/>
                <a:cs typeface="Arial" panose="020B0604020202020204" pitchFamily="34" charset="0"/>
              </a:rPr>
              <a:t>el</a:t>
            </a:r>
            <a:r>
              <a:rPr lang="en-US" sz="1400" dirty="0">
                <a:latin typeface="Arial" panose="020B0604020202020204" pitchFamily="34" charset="0"/>
                <a:cs typeface="Arial" panose="020B0604020202020204" pitchFamily="34" charset="0"/>
              </a:rPr>
              <a:t> modo fundamental, </a:t>
            </a:r>
            <a:r>
              <a:rPr lang="en-US" sz="1400" dirty="0" err="1">
                <a:latin typeface="Arial" panose="020B0604020202020204" pitchFamily="34" charset="0"/>
                <a:cs typeface="Arial" panose="020B0604020202020204" pitchFamily="34" charset="0"/>
              </a:rPr>
              <a:t>el</a:t>
            </a:r>
            <a:r>
              <a:rPr lang="en-US" sz="1400" dirty="0">
                <a:latin typeface="Arial" panose="020B0604020202020204" pitchFamily="34" charset="0"/>
                <a:cs typeface="Arial" panose="020B0604020202020204" pitchFamily="34" charset="0"/>
              </a:rPr>
              <a:t> campo </a:t>
            </a:r>
            <a:r>
              <a:rPr lang="en-US" sz="1400" dirty="0" err="1">
                <a:latin typeface="Arial" panose="020B0604020202020204" pitchFamily="34" charset="0"/>
                <a:cs typeface="Arial" panose="020B0604020202020204" pitchFamily="34" charset="0"/>
              </a:rPr>
              <a:t>está</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confinado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el</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núcleo</a:t>
            </a:r>
            <a:r>
              <a:rPr lang="en-US" sz="1400" dirty="0">
                <a:latin typeface="Arial" panose="020B0604020202020204" pitchFamily="34" charset="0"/>
                <a:cs typeface="Arial" panose="020B0604020202020204" pitchFamily="34" charset="0"/>
              </a:rPr>
              <a:t> y no hay </a:t>
            </a:r>
            <a:r>
              <a:rPr lang="en-US" sz="1400" dirty="0" err="1">
                <a:latin typeface="Arial" panose="020B0604020202020204" pitchFamily="34" charset="0"/>
                <a:cs typeface="Arial" panose="020B0604020202020204" pitchFamily="34" charset="0"/>
              </a:rPr>
              <a:t>ningún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nodo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además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tiene</a:t>
            </a:r>
            <a:r>
              <a:rPr lang="en-US" sz="1400" dirty="0">
                <a:latin typeface="Arial" panose="020B0604020202020204" pitchFamily="34" charset="0"/>
                <a:cs typeface="Arial" panose="020B0604020202020204" pitchFamily="34" charset="0"/>
              </a:rPr>
              <a:t> un </a:t>
            </a:r>
            <a:r>
              <a:rPr lang="en-US" sz="1400" dirty="0" err="1">
                <a:latin typeface="Arial" panose="020B0604020202020204" pitchFamily="34" charset="0"/>
                <a:cs typeface="Arial" panose="020B0604020202020204" pitchFamily="34" charset="0"/>
              </a:rPr>
              <a:t>índice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efectivo</a:t>
            </a:r>
            <a:r>
              <a:rPr lang="en-US" sz="1400" dirty="0">
                <a:latin typeface="Arial" panose="020B0604020202020204" pitchFamily="34" charset="0"/>
                <a:cs typeface="Arial" panose="020B0604020202020204" pitchFamily="34" charset="0"/>
              </a:rPr>
              <a:t> mayor que </a:t>
            </a:r>
            <a:r>
              <a:rPr lang="en-US" sz="1400" dirty="0" err="1">
                <a:latin typeface="Arial" panose="020B0604020202020204" pitchFamily="34" charset="0"/>
                <a:cs typeface="Arial" panose="020B0604020202020204" pitchFamily="34" charset="0"/>
              </a:rPr>
              <a:t>los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modos</a:t>
            </a:r>
            <a:r>
              <a:rPr lang="en-US" sz="1400" dirty="0">
                <a:latin typeface="Arial" panose="020B0604020202020204" pitchFamily="34" charset="0"/>
                <a:cs typeface="Arial" panose="020B0604020202020204" pitchFamily="34" charset="0"/>
              </a:rPr>
              <a:t> de </a:t>
            </a:r>
            <a:r>
              <a:rPr lang="en-US" sz="1400" dirty="0" err="1">
                <a:latin typeface="Arial" panose="020B0604020202020204" pitchFamily="34" charset="0"/>
                <a:cs typeface="Arial" panose="020B0604020202020204" pitchFamily="34" charset="0"/>
              </a:rPr>
              <a:t>orden</a:t>
            </a:r>
            <a:r>
              <a:rPr lang="en-US" sz="1400" dirty="0">
                <a:latin typeface="Arial" panose="020B0604020202020204" pitchFamily="34" charset="0"/>
                <a:cs typeface="Arial" panose="020B0604020202020204" pitchFamily="34" charset="0"/>
              </a:rPr>
              <a:t> superior. Podemos </a:t>
            </a:r>
            <a:r>
              <a:rPr lang="en-US" sz="1400" dirty="0" err="1">
                <a:latin typeface="Arial" panose="020B0604020202020204" pitchFamily="34" charset="0"/>
                <a:cs typeface="Arial" panose="020B0604020202020204" pitchFamily="34" charset="0"/>
              </a:rPr>
              <a:t>observar</a:t>
            </a:r>
            <a:r>
              <a:rPr lang="en-US" sz="1400" dirty="0">
                <a:latin typeface="Arial" panose="020B0604020202020204" pitchFamily="34" charset="0"/>
                <a:cs typeface="Arial" panose="020B0604020202020204" pitchFamily="34" charset="0"/>
              </a:rPr>
              <a:t> que </a:t>
            </a:r>
            <a:r>
              <a:rPr lang="en-US" sz="1400" dirty="0" err="1">
                <a:latin typeface="Arial" panose="020B0604020202020204" pitchFamily="34" charset="0"/>
                <a:cs typeface="Arial" panose="020B0604020202020204" pitchFamily="34" charset="0"/>
              </a:rPr>
              <a:t>el</a:t>
            </a:r>
            <a:r>
              <a:rPr lang="en-US" sz="1400" dirty="0">
                <a:latin typeface="Arial" panose="020B0604020202020204" pitchFamily="34" charset="0"/>
                <a:cs typeface="Arial" panose="020B0604020202020204" pitchFamily="34" charset="0"/>
              </a:rPr>
              <a:t> modo 1 </a:t>
            </a:r>
            <a:r>
              <a:rPr lang="en-US" sz="1400" dirty="0" err="1">
                <a:latin typeface="Arial" panose="020B0604020202020204" pitchFamily="34" charset="0"/>
                <a:cs typeface="Arial" panose="020B0604020202020204" pitchFamily="34" charset="0"/>
              </a:rPr>
              <a:t>presenta</a:t>
            </a:r>
            <a:r>
              <a:rPr lang="en-US" sz="1400" dirty="0">
                <a:latin typeface="Arial" panose="020B0604020202020204" pitchFamily="34" charset="0"/>
                <a:cs typeface="Arial" panose="020B0604020202020204" pitchFamily="34" charset="0"/>
              </a:rPr>
              <a:t> 1 </a:t>
            </a:r>
            <a:r>
              <a:rPr lang="en-US" sz="1400" dirty="0" err="1">
                <a:latin typeface="Arial" panose="020B0604020202020204" pitchFamily="34" charset="0"/>
                <a:cs typeface="Arial" panose="020B0604020202020204" pitchFamily="34" charset="0"/>
              </a:rPr>
              <a:t>nodo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en</a:t>
            </a:r>
            <a:r>
              <a:rPr lang="en-US" sz="1400" dirty="0">
                <a:latin typeface="Arial" panose="020B0604020202020204" pitchFamily="34" charset="0"/>
                <a:cs typeface="Arial" panose="020B0604020202020204" pitchFamily="34" charset="0"/>
              </a:rPr>
              <a:t> la </a:t>
            </a:r>
            <a:r>
              <a:rPr lang="en-US" sz="1400" dirty="0" err="1">
                <a:latin typeface="Arial" panose="020B0604020202020204" pitchFamily="34" charset="0"/>
                <a:cs typeface="Arial" panose="020B0604020202020204" pitchFamily="34" charset="0"/>
              </a:rPr>
              <a:t>distribución</a:t>
            </a:r>
            <a:r>
              <a:rPr lang="en-US" sz="1400" dirty="0">
                <a:latin typeface="Arial" panose="020B0604020202020204" pitchFamily="34" charset="0"/>
                <a:cs typeface="Arial" panose="020B0604020202020204" pitchFamily="34" charset="0"/>
              </a:rPr>
              <a:t> de campo y que </a:t>
            </a:r>
            <a:r>
              <a:rPr lang="en-US" sz="1400" dirty="0" err="1">
                <a:latin typeface="Arial" panose="020B0604020202020204" pitchFamily="34" charset="0"/>
                <a:cs typeface="Arial" panose="020B0604020202020204" pitchFamily="34" charset="0"/>
              </a:rPr>
              <a:t>el</a:t>
            </a:r>
            <a:r>
              <a:rPr lang="en-US" sz="1400" dirty="0">
                <a:latin typeface="Arial" panose="020B0604020202020204" pitchFamily="34" charset="0"/>
                <a:cs typeface="Arial" panose="020B0604020202020204" pitchFamily="34" charset="0"/>
              </a:rPr>
              <a:t> modo 7 </a:t>
            </a:r>
            <a:r>
              <a:rPr lang="en-US" sz="1400" dirty="0" err="1">
                <a:latin typeface="Arial" panose="020B0604020202020204" pitchFamily="34" charset="0"/>
                <a:cs typeface="Arial" panose="020B0604020202020204" pitchFamily="34" charset="0"/>
              </a:rPr>
              <a:t>presenta</a:t>
            </a:r>
            <a:r>
              <a:rPr lang="en-US" sz="1400" dirty="0">
                <a:latin typeface="Arial" panose="020B0604020202020204" pitchFamily="34" charset="0"/>
                <a:cs typeface="Arial" panose="020B0604020202020204" pitchFamily="34" charset="0"/>
              </a:rPr>
              <a:t> 7 </a:t>
            </a:r>
            <a:r>
              <a:rPr lang="en-US" sz="1400" dirty="0" err="1">
                <a:latin typeface="Arial" panose="020B0604020202020204" pitchFamily="34" charset="0"/>
                <a:cs typeface="Arial" panose="020B0604020202020204" pitchFamily="34" charset="0"/>
              </a:rPr>
              <a:t>nodos</a:t>
            </a:r>
            <a:r>
              <a:rPr lang="en-US" sz="1400" dirty="0">
                <a:latin typeface="Arial" panose="020B0604020202020204" pitchFamily="34" charset="0"/>
                <a:cs typeface="Arial" panose="020B0604020202020204" pitchFamily="34" charset="0"/>
              </a:rPr>
              <a:t>. A mayor </a:t>
            </a:r>
            <a:r>
              <a:rPr lang="en-US" sz="1400" dirty="0" err="1">
                <a:latin typeface="Arial" panose="020B0604020202020204" pitchFamily="34" charset="0"/>
                <a:cs typeface="Arial" panose="020B0604020202020204" pitchFamily="34" charset="0"/>
              </a:rPr>
              <a:t>orden</a:t>
            </a:r>
            <a:r>
              <a:rPr lang="en-US" sz="1400" dirty="0">
                <a:latin typeface="Arial" panose="020B0604020202020204" pitchFamily="34" charset="0"/>
                <a:cs typeface="Arial" panose="020B0604020202020204" pitchFamily="34" charset="0"/>
              </a:rPr>
              <a:t> del modo, </a:t>
            </a:r>
            <a:r>
              <a:rPr lang="en-US" sz="1400" dirty="0" err="1">
                <a:latin typeface="Arial" panose="020B0604020202020204" pitchFamily="34" charset="0"/>
                <a:cs typeface="Arial" panose="020B0604020202020204" pitchFamily="34" charset="0"/>
              </a:rPr>
              <a:t>menor</a:t>
            </a:r>
            <a:r>
              <a:rPr lang="en-US" sz="1400" dirty="0">
                <a:latin typeface="Arial" panose="020B0604020202020204" pitchFamily="34" charset="0"/>
                <a:cs typeface="Arial" panose="020B0604020202020204" pitchFamily="34" charset="0"/>
              </a:rPr>
              <a:t> es </a:t>
            </a:r>
            <a:r>
              <a:rPr lang="en-US" sz="1400" dirty="0" err="1">
                <a:latin typeface="Arial" panose="020B0604020202020204" pitchFamily="34" charset="0"/>
                <a:cs typeface="Arial" panose="020B0604020202020204" pitchFamily="34" charset="0"/>
              </a:rPr>
              <a:t>neff</a:t>
            </a:r>
            <a:r>
              <a:rPr lang="en-US" sz="14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9981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7112769" y="1365787"/>
            <a:ext cx="4341812" cy="2246769"/>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En el MMI 2x2 la señal se propaga mediante interferencia multimodo, dando lugar a un reparto de potencia cercano al 50/50 (≈ 0.51/0.48). Sin embargo, se observan pérdidas de aproximadamente 0.42 dB y un ligero desbalance en la salida.</a:t>
            </a:r>
          </a:p>
          <a:p>
            <a:pPr algn="just"/>
            <a:r>
              <a:rPr lang="es-ES" sz="1400" dirty="0"/>
              <a:t>Esto indica que, aunque el dispositivo funciona correctamente, es necesario optimizar parámetros como la longitud del MMI y la posición de las guías para mejorar el equilibrio y reducir las pérdidas, que lo haremos en los dos siguientes apartados.</a:t>
            </a: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6172359" cy="4337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Interfaz de usuario gráfica, Aplicación&#10;&#10;Descripción generada automáticamente">
            <a:extLst>
              <a:ext uri="{FF2B5EF4-FFF2-40B4-BE49-F238E27FC236}">
                <a16:creationId xmlns:a16="http://schemas.microsoft.com/office/drawing/2014/main" id="{B4687810-B39A-8903-0906-06DE1584A027}"/>
              </a:ext>
            </a:extLst>
          </p:cNvPr>
          <p:cNvPicPr>
            <a:picLocks noChangeAspect="1"/>
          </p:cNvPicPr>
          <p:nvPr/>
        </p:nvPicPr>
        <p:blipFill rotWithShape="1">
          <a:blip r:embed="rId4">
            <a:extLst>
              <a:ext uri="{28A0092B-C50C-407E-A947-70E740481C1C}">
                <a14:useLocalDpi xmlns:a14="http://schemas.microsoft.com/office/drawing/2010/main" val="0"/>
              </a:ext>
            </a:extLst>
          </a:blip>
          <a:srcRect t="1932" r="12708"/>
          <a:stretch/>
        </p:blipFill>
        <p:spPr>
          <a:xfrm>
            <a:off x="876219" y="1514628"/>
            <a:ext cx="5638801" cy="4063253"/>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82843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sz="2800" b="0" dirty="0"/>
              <a:t>Wavelength 1.55 µm, </a:t>
            </a:r>
            <a:r>
              <a:rPr lang="en-US" sz="2800" b="0" dirty="0" err="1"/>
              <a:t>wMMI</a:t>
            </a:r>
            <a:r>
              <a:rPr lang="en-US" sz="2800"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7054068" y="1377510"/>
            <a:ext cx="4341812" cy="95410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Se ha optimizado el MMI ajustando la longitud (</a:t>
            </a:r>
            <a:r>
              <a:rPr lang="es-ES" sz="1400" dirty="0" err="1"/>
              <a:t>dL</a:t>
            </a:r>
            <a:r>
              <a:rPr lang="es-ES" sz="1400" dirty="0"/>
              <a:t>=−0.5) y la posición de las guías (</a:t>
            </a:r>
            <a:r>
              <a:rPr lang="es-ES" sz="1400" dirty="0" err="1"/>
              <a:t>dy</a:t>
            </a:r>
            <a:r>
              <a:rPr lang="es-ES" sz="1400" dirty="0"/>
              <a:t>=0.05). Con ello, las pérdidas se reducen a ≈ 0.386 dB y el reparto de potencia mejora hasta ≈ 0.506/0.494, más cercano al 50/50.</a:t>
            </a: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6172359" cy="4337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Gráfico&#10;&#10;Descripción generada automáticamente con confianza media">
            <a:extLst>
              <a:ext uri="{FF2B5EF4-FFF2-40B4-BE49-F238E27FC236}">
                <a16:creationId xmlns:a16="http://schemas.microsoft.com/office/drawing/2014/main" id="{98BD0A64-CEDA-D47F-68F4-89706D0DE1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847" y="1616074"/>
            <a:ext cx="5656346" cy="3864415"/>
          </a:xfrm>
          <a:prstGeom prst="rect">
            <a:avLst/>
          </a:prstGeom>
        </p:spPr>
      </p:pic>
    </p:spTree>
    <p:extLst>
      <p:ext uri="{BB962C8B-B14F-4D97-AF65-F5344CB8AC3E}">
        <p14:creationId xmlns:p14="http://schemas.microsoft.com/office/powerpoint/2010/main" val="3821003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82843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sz="2800" b="0" dirty="0"/>
              <a:t>Wavelength 1.55 µm, </a:t>
            </a:r>
            <a:r>
              <a:rPr lang="en-US" sz="2800" b="0" dirty="0" err="1"/>
              <a:t>wMMI</a:t>
            </a:r>
            <a:r>
              <a:rPr lang="en-US" sz="2800"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7112769" y="1377510"/>
            <a:ext cx="4341812"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En esta etapa se ha optimizado el MMI ajustando la longitud (</a:t>
            </a:r>
            <a:r>
              <a:rPr lang="es-ES" sz="1400" dirty="0" err="1"/>
              <a:t>dL</a:t>
            </a:r>
            <a:r>
              <a:rPr lang="es-ES" sz="1400" dirty="0"/>
              <a:t>=0.44) y la posición de las guías (</a:t>
            </a:r>
            <a:r>
              <a:rPr lang="es-ES" sz="1400" dirty="0" err="1"/>
              <a:t>dy</a:t>
            </a:r>
            <a:r>
              <a:rPr lang="es-ES" sz="1400" dirty="0"/>
              <a:t>=0.03).</a:t>
            </a:r>
          </a:p>
          <a:p>
            <a:pPr algn="just"/>
            <a:r>
              <a:rPr lang="es-ES" sz="1400" dirty="0"/>
              <a:t>Se obtiene una potencia de salida de 0.9773, con pérdidas de solo 0.0999 dB, cumpliendo el objetivo (&lt;0.1dB). Además, el reparto es ideal (0.5 / 0.5).</a:t>
            </a:r>
          </a:p>
          <a:p>
            <a:pPr algn="just"/>
            <a:r>
              <a:rPr lang="es-ES" sz="1400" dirty="0"/>
              <a:t>Se logra así un mejor acoplamiento.</a:t>
            </a: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6172359" cy="4337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Descripción generada automáticamente">
            <a:extLst>
              <a:ext uri="{FF2B5EF4-FFF2-40B4-BE49-F238E27FC236}">
                <a16:creationId xmlns:a16="http://schemas.microsoft.com/office/drawing/2014/main" id="{849A7B14-2A5F-AA20-B027-30E0E1ED1E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82" y="1558698"/>
            <a:ext cx="5515708" cy="3975113"/>
          </a:xfrm>
          <a:prstGeom prst="rect">
            <a:avLst/>
          </a:prstGeom>
        </p:spPr>
      </p:pic>
    </p:spTree>
    <p:extLst>
      <p:ext uri="{BB962C8B-B14F-4D97-AF65-F5344CB8AC3E}">
        <p14:creationId xmlns:p14="http://schemas.microsoft.com/office/powerpoint/2010/main" val="2855718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12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35421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mj-lt"/>
                <a:cs typeface="Arial" panose="020B0604020202020204" pitchFamily="34" charset="0"/>
              </a:rPr>
              <a:t>Para diseñar el MMI 1x4 se ha seguido el mismo procedimiento que en el caso 2x2, pero considerando cuatro salidas. Se ha elegido un ancho de 12 </a:t>
            </a:r>
            <a:r>
              <a:rPr lang="es-ES" sz="1400" dirty="0" err="1">
                <a:latin typeface="+mj-lt"/>
                <a:cs typeface="Arial" panose="020B0604020202020204" pitchFamily="34" charset="0"/>
              </a:rPr>
              <a:t>um</a:t>
            </a:r>
            <a:r>
              <a:rPr lang="es-ES" sz="1400" dirty="0">
                <a:latin typeface="+mj-lt"/>
                <a:cs typeface="Arial" panose="020B0604020202020204" pitchFamily="34" charset="0"/>
              </a:rPr>
              <a:t> para permitir más modos y se ha estimado la longitud como L=(16/3)</a:t>
            </a:r>
            <a:r>
              <a:rPr lang="es-ES" sz="1400" dirty="0" err="1">
                <a:latin typeface="+mj-lt"/>
                <a:cs typeface="Arial" panose="020B0604020202020204" pitchFamily="34" charset="0"/>
              </a:rPr>
              <a:t>Lpi</a:t>
            </a:r>
            <a:r>
              <a:rPr lang="es-ES" sz="1400" dirty="0">
                <a:latin typeface="+mj-lt"/>
                <a:cs typeface="Arial" panose="020B0604020202020204" pitchFamily="34" charset="0"/>
              </a:rPr>
              <a:t>​, ajustándola ligeramente para optimizar el resultado. También se han modificado ligeramente las posiciones de las guías de salida para mejorar el reparto de potencia. Como resultado, se obtiene una potencia de salida cercana a 1, pérdidas bajas (~0.06 dB) y un reparto prácticamente uniforme (~25% en cada puerto), lo que indica un buen funcionamiento del dispositivo.</a:t>
            </a:r>
            <a:endParaRPr lang="en-US" sz="1400" dirty="0">
              <a:latin typeface="+mj-lt"/>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A39FCDA2-5D1F-9ABD-715C-58D926B4B148}"/>
              </a:ext>
            </a:extLst>
          </p:cNvPr>
          <p:cNvSpPr txBox="1"/>
          <p:nvPr/>
        </p:nvSpPr>
        <p:spPr>
          <a:xfrm>
            <a:off x="6530735" y="1392210"/>
            <a:ext cx="5344972" cy="3231654"/>
          </a:xfrm>
          <a:prstGeom prst="rect">
            <a:avLst/>
          </a:prstGeom>
          <a:noFill/>
        </p:spPr>
        <p:txBody>
          <a:bodyPr wrap="square" rtlCol="0">
            <a:spAutoFit/>
          </a:bodyPr>
          <a:lstStyle/>
          <a:p>
            <a:r>
              <a:rPr lang="en-US" sz="1700" dirty="0"/>
              <a:t>------- </a:t>
            </a:r>
            <a:r>
              <a:rPr lang="en-US" sz="1700" dirty="0" err="1"/>
              <a:t>Pameters</a:t>
            </a:r>
            <a:r>
              <a:rPr lang="en-US" sz="1700" dirty="0"/>
              <a:t> ------- </a:t>
            </a:r>
          </a:p>
          <a:p>
            <a:r>
              <a:rPr lang="en-US" sz="1700" dirty="0"/>
              <a:t>MMI length 41.0886 </a:t>
            </a:r>
          </a:p>
          <a:p>
            <a:r>
              <a:rPr lang="en-US" sz="1700" dirty="0"/>
              <a:t>MMI length increment -1.0000 </a:t>
            </a:r>
          </a:p>
          <a:p>
            <a:r>
              <a:rPr lang="en-US" sz="1700" dirty="0"/>
              <a:t>IO </a:t>
            </a:r>
            <a:r>
              <a:rPr lang="en-US" sz="1700" dirty="0" err="1"/>
              <a:t>wg</a:t>
            </a:r>
            <a:r>
              <a:rPr lang="en-US" sz="1700" dirty="0"/>
              <a:t> width 1.0000 </a:t>
            </a:r>
          </a:p>
          <a:p>
            <a:r>
              <a:rPr lang="en-US" sz="1700" dirty="0"/>
              <a:t>IO </a:t>
            </a:r>
            <a:r>
              <a:rPr lang="en-US" sz="1700" dirty="0" err="1"/>
              <a:t>wg</a:t>
            </a:r>
            <a:r>
              <a:rPr lang="en-US" sz="1700" dirty="0"/>
              <a:t> width increment 1.1000 </a:t>
            </a:r>
          </a:p>
          <a:p>
            <a:r>
              <a:rPr lang="en-US" sz="1700" dirty="0"/>
              <a:t>------------------------ </a:t>
            </a:r>
          </a:p>
          <a:p>
            <a:r>
              <a:rPr lang="en-US" sz="1700" dirty="0"/>
              <a:t>Total power IN coupled 0.9953 </a:t>
            </a:r>
          </a:p>
          <a:p>
            <a:r>
              <a:rPr lang="en-US" sz="1700" dirty="0"/>
              <a:t>Total OUT power: 0.9870 </a:t>
            </a:r>
          </a:p>
          <a:p>
            <a:r>
              <a:rPr lang="en-US" sz="1700" dirty="0"/>
              <a:t>Excess loss [dB] = 0.0570 </a:t>
            </a:r>
          </a:p>
          <a:p>
            <a:r>
              <a:rPr lang="en-US" sz="1700" dirty="0"/>
              <a:t>------------------------ </a:t>
            </a:r>
          </a:p>
          <a:p>
            <a:r>
              <a:rPr lang="en-US" sz="1700" dirty="0"/>
              <a:t>Power over OUTs: ['0.2400', '0.2535', '0.2535', '0.2399'] Ratio over OUTs ['0.2432', '0.2569', '0.2569', '0.2431']</a:t>
            </a:r>
            <a:endParaRPr lang="es-ES" sz="1700" dirty="0"/>
          </a:p>
        </p:txBody>
      </p:sp>
      <p:pic>
        <p:nvPicPr>
          <p:cNvPr id="12" name="Imagen 11">
            <a:extLst>
              <a:ext uri="{FF2B5EF4-FFF2-40B4-BE49-F238E27FC236}">
                <a16:creationId xmlns:a16="http://schemas.microsoft.com/office/drawing/2014/main" id="{14D4BFDA-AC11-D570-38AB-04B4D1C15663}"/>
              </a:ext>
            </a:extLst>
          </p:cNvPr>
          <p:cNvPicPr>
            <a:picLocks noChangeAspect="1"/>
          </p:cNvPicPr>
          <p:nvPr/>
        </p:nvPicPr>
        <p:blipFill>
          <a:blip r:embed="rId4"/>
          <a:stretch>
            <a:fillRect/>
          </a:stretch>
        </p:blipFill>
        <p:spPr>
          <a:xfrm>
            <a:off x="657045" y="1752600"/>
            <a:ext cx="5941875" cy="2743200"/>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600438"/>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mj-lt"/>
                <a:cs typeface="Arial" panose="020B0604020202020204" pitchFamily="34" charset="0"/>
              </a:rPr>
              <a:t>A partir de las gráficas, se observa que la longitud de acoplamiento </a:t>
            </a:r>
            <a:r>
              <a:rPr lang="es-ES" sz="1400" dirty="0" err="1">
                <a:latin typeface="+mj-lt"/>
                <a:cs typeface="Arial" panose="020B0604020202020204" pitchFamily="34" charset="0"/>
              </a:rPr>
              <a:t>Lpi</a:t>
            </a:r>
            <a:r>
              <a:rPr lang="es-ES" sz="1400" dirty="0">
                <a:latin typeface="+mj-lt"/>
                <a:cs typeface="Arial" panose="020B0604020202020204" pitchFamily="34" charset="0"/>
              </a:rPr>
              <a:t> aumenta al incrementar el gap entre las guías. Esto se debe a que el acoplamiento depende del solapamiento de los campos evanescentes: al aumentar la separación, dicho solapamiento disminuye rápidamente, reduciendo el acoplamiento y requiriendo una mayor longitud para transferir la potencia entre guías. Además, se observa que </a:t>
            </a:r>
            <a:r>
              <a:rPr lang="es-ES" sz="1400" dirty="0" err="1">
                <a:latin typeface="+mj-lt"/>
                <a:cs typeface="Arial" panose="020B0604020202020204" pitchFamily="34" charset="0"/>
              </a:rPr>
              <a:t>Lpi</a:t>
            </a:r>
            <a:r>
              <a:rPr lang="es-ES" sz="1400" dirty="0">
                <a:latin typeface="+mj-lt"/>
                <a:cs typeface="Arial" panose="020B0604020202020204" pitchFamily="34" charset="0"/>
              </a:rPr>
              <a:t>​ es mayor para los modos TE que para los TM, ya que los modos TE están más confinados. Al comparar ambas estructuras, la guía </a:t>
            </a:r>
            <a:r>
              <a:rPr lang="es-ES" sz="1400" dirty="0" err="1">
                <a:latin typeface="+mj-lt"/>
                <a:cs typeface="Arial" panose="020B0604020202020204" pitchFamily="34" charset="0"/>
              </a:rPr>
              <a:t>shallow</a:t>
            </a:r>
            <a:r>
              <a:rPr lang="es-ES" sz="1400" dirty="0">
                <a:latin typeface="+mj-lt"/>
                <a:cs typeface="Arial" panose="020B0604020202020204" pitchFamily="34" charset="0"/>
              </a:rPr>
              <a:t> presenta valores de </a:t>
            </a:r>
            <a:r>
              <a:rPr lang="es-ES" sz="1400" dirty="0" err="1">
                <a:latin typeface="+mj-lt"/>
                <a:cs typeface="Arial" panose="020B0604020202020204" pitchFamily="34" charset="0"/>
              </a:rPr>
              <a:t>Lpi</a:t>
            </a:r>
            <a:r>
              <a:rPr lang="es-ES" sz="1400" dirty="0">
                <a:latin typeface="+mj-lt"/>
                <a:cs typeface="Arial" panose="020B0604020202020204" pitchFamily="34" charset="0"/>
              </a:rPr>
              <a:t> mayores, lo que indica un acoplamiento más débil. Esto se debe a que la presencia del </a:t>
            </a:r>
            <a:r>
              <a:rPr lang="es-ES" sz="1400" dirty="0" err="1">
                <a:latin typeface="+mj-lt"/>
                <a:cs typeface="Arial" panose="020B0604020202020204" pitchFamily="34" charset="0"/>
              </a:rPr>
              <a:t>slab</a:t>
            </a:r>
            <a:r>
              <a:rPr lang="es-ES" sz="1400" dirty="0">
                <a:latin typeface="+mj-lt"/>
                <a:cs typeface="Arial" panose="020B0604020202020204" pitchFamily="34" charset="0"/>
              </a:rPr>
              <a:t> hace que los modos, especialmente el TM, se extiendan más fuera de la región de acoplamiento efectiva entre las guías, reduciendo el solapamiento útil y, por tanto, el acoplamiento. Por el contrario, la guía </a:t>
            </a:r>
            <a:r>
              <a:rPr lang="es-ES" sz="1400" dirty="0" err="1">
                <a:latin typeface="+mj-lt"/>
                <a:cs typeface="Arial" panose="020B0604020202020204" pitchFamily="34" charset="0"/>
              </a:rPr>
              <a:t>deep</a:t>
            </a:r>
            <a:r>
              <a:rPr lang="es-ES" sz="1400" dirty="0">
                <a:latin typeface="+mj-lt"/>
                <a:cs typeface="Arial" panose="020B0604020202020204" pitchFamily="34" charset="0"/>
              </a:rPr>
              <a:t> muestra un comportamiento más regular, con una variación más progresiva de </a:t>
            </a:r>
            <a:r>
              <a:rPr lang="es-ES" sz="1400" dirty="0" err="1">
                <a:latin typeface="+mj-lt"/>
                <a:cs typeface="Arial" panose="020B0604020202020204" pitchFamily="34" charset="0"/>
              </a:rPr>
              <a:t>Lpi</a:t>
            </a:r>
            <a:r>
              <a:rPr lang="es-ES" sz="1400" dirty="0">
                <a:latin typeface="+mj-lt"/>
                <a:cs typeface="Arial" panose="020B0604020202020204" pitchFamily="34" charset="0"/>
              </a:rPr>
              <a:t> al aumentar el gap.</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4A48D6D1-4E9A-E5D4-1020-95487F288515}"/>
              </a:ext>
            </a:extLst>
          </p:cNvPr>
          <p:cNvPicPr>
            <a:picLocks noChangeAspect="1"/>
          </p:cNvPicPr>
          <p:nvPr/>
        </p:nvPicPr>
        <p:blipFill>
          <a:blip r:embed="rId4"/>
          <a:stretch>
            <a:fillRect/>
          </a:stretch>
        </p:blipFill>
        <p:spPr>
          <a:xfrm>
            <a:off x="6931103" y="1499242"/>
            <a:ext cx="4267200" cy="3203921"/>
          </a:xfrm>
          <a:prstGeom prst="rect">
            <a:avLst/>
          </a:prstGeom>
        </p:spPr>
      </p:pic>
      <p:pic>
        <p:nvPicPr>
          <p:cNvPr id="12" name="Imagen 11">
            <a:extLst>
              <a:ext uri="{FF2B5EF4-FFF2-40B4-BE49-F238E27FC236}">
                <a16:creationId xmlns:a16="http://schemas.microsoft.com/office/drawing/2014/main" id="{D9721617-D22C-0590-67B1-E2FC47512E89}"/>
              </a:ext>
            </a:extLst>
          </p:cNvPr>
          <p:cNvPicPr>
            <a:picLocks noChangeAspect="1"/>
          </p:cNvPicPr>
          <p:nvPr/>
        </p:nvPicPr>
        <p:blipFill>
          <a:blip r:embed="rId5"/>
          <a:stretch>
            <a:fillRect/>
          </a:stretch>
        </p:blipFill>
        <p:spPr>
          <a:xfrm>
            <a:off x="1143000" y="1572363"/>
            <a:ext cx="4232528" cy="3104333"/>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815882"/>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a:latin typeface="+mj-lt"/>
                <a:cs typeface="Arial" panose="020B0604020202020204" pitchFamily="34" charset="0"/>
              </a:rPr>
              <a:t>A </a:t>
            </a:r>
            <a:r>
              <a:rPr lang="es-ES" sz="1400" noProof="0" dirty="0">
                <a:latin typeface="+mj-lt"/>
                <a:cs typeface="Arial" panose="020B0604020202020204" pitchFamily="34" charset="0"/>
              </a:rPr>
              <a:t>partir</a:t>
            </a:r>
            <a:r>
              <a:rPr lang="en-US" sz="1400" dirty="0">
                <a:latin typeface="+mj-lt"/>
                <a:cs typeface="Arial" panose="020B0604020202020204" pitchFamily="34" charset="0"/>
              </a:rPr>
              <a:t> de las </a:t>
            </a:r>
            <a:r>
              <a:rPr lang="es-ES" sz="1400" noProof="0" dirty="0">
                <a:latin typeface="+mj-lt"/>
                <a:cs typeface="Arial" panose="020B0604020202020204" pitchFamily="34" charset="0"/>
              </a:rPr>
              <a:t>gráficas, se puede observar cómo </a:t>
            </a:r>
            <a:r>
              <a:rPr lang="en-US" sz="1400" dirty="0">
                <a:latin typeface="+mj-lt"/>
                <a:cs typeface="Arial" panose="020B0604020202020204" pitchFamily="34" charset="0"/>
              </a:rPr>
              <a:t>al </a:t>
            </a:r>
            <a:r>
              <a:rPr lang="es-ES" sz="1400" noProof="0" dirty="0">
                <a:latin typeface="+mj-lt"/>
                <a:cs typeface="Arial" panose="020B0604020202020204" pitchFamily="34" charset="0"/>
              </a:rPr>
              <a:t>aumentar la longitud de onda,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tiende a disminuir. </a:t>
            </a:r>
            <a:r>
              <a:rPr lang="es-ES" sz="1400" dirty="0">
                <a:latin typeface="+mj-lt"/>
                <a:cs typeface="Arial" panose="020B0604020202020204" pitchFamily="34" charset="0"/>
              </a:rPr>
              <a:t>Esto se debe a que, al incrementar la longitud de onda, el confinamiento modal disminuye y el campo evanescente se extiende más en la región lateral, aumentando el solapamiento entre las guías y, por tanto, el acoplamiento. Como consecuencia, se necesita menor longitud para transferir la potencia. Además, se observa que </a:t>
            </a:r>
            <a:r>
              <a:rPr lang="es-ES" sz="1400" dirty="0" err="1">
                <a:latin typeface="+mj-lt"/>
                <a:cs typeface="Arial" panose="020B0604020202020204" pitchFamily="34" charset="0"/>
              </a:rPr>
              <a:t>Lpi</a:t>
            </a:r>
            <a:r>
              <a:rPr lang="es-ES" sz="1400" dirty="0">
                <a:latin typeface="+mj-lt"/>
                <a:cs typeface="Arial" panose="020B0604020202020204" pitchFamily="34" charset="0"/>
              </a:rPr>
              <a:t>​ es mayor para los modos TE que para los TM, </a:t>
            </a:r>
          </a:p>
          <a:p>
            <a:pPr algn="just"/>
            <a:r>
              <a:rPr lang="es-ES" sz="1400" dirty="0">
                <a:latin typeface="+mj-lt"/>
                <a:cs typeface="Arial" panose="020B0604020202020204" pitchFamily="34" charset="0"/>
              </a:rPr>
              <a:t>Al comparar las estructuras, la guía </a:t>
            </a:r>
            <a:r>
              <a:rPr lang="es-ES" sz="1400" dirty="0" err="1">
                <a:latin typeface="+mj-lt"/>
                <a:cs typeface="Arial" panose="020B0604020202020204" pitchFamily="34" charset="0"/>
              </a:rPr>
              <a:t>shallow</a:t>
            </a:r>
            <a:r>
              <a:rPr lang="es-ES" sz="1400" dirty="0">
                <a:latin typeface="+mj-lt"/>
                <a:cs typeface="Arial" panose="020B0604020202020204" pitchFamily="34" charset="0"/>
              </a:rPr>
              <a:t> muestra un comportamiento más dependiente de la polarización, especialmente para el modo TM, cuyos valores de </a:t>
            </a:r>
            <a:r>
              <a:rPr lang="es-ES" sz="1400" dirty="0" err="1">
                <a:latin typeface="+mj-lt"/>
                <a:cs typeface="Arial" panose="020B0604020202020204" pitchFamily="34" charset="0"/>
              </a:rPr>
              <a:t>Lpi</a:t>
            </a:r>
            <a:r>
              <a:rPr lang="es-ES" sz="1400" dirty="0">
                <a:latin typeface="+mj-lt"/>
                <a:cs typeface="Arial" panose="020B0604020202020204" pitchFamily="34" charset="0"/>
              </a:rPr>
              <a:t> son mucho mayores y presentan una variación más pronunciada, ya que el </a:t>
            </a:r>
            <a:r>
              <a:rPr lang="es-ES" sz="1400" dirty="0" err="1">
                <a:latin typeface="+mj-lt"/>
                <a:cs typeface="Arial" panose="020B0604020202020204" pitchFamily="34" charset="0"/>
              </a:rPr>
              <a:t>slab</a:t>
            </a:r>
            <a:r>
              <a:rPr lang="es-ES" sz="1400" dirty="0">
                <a:latin typeface="+mj-lt"/>
                <a:cs typeface="Arial" panose="020B0604020202020204" pitchFamily="34" charset="0"/>
              </a:rPr>
              <a:t> permite que los modos se extiendan más y sean más sensibles a la longitud de onda. Por el contrario, la guía </a:t>
            </a:r>
            <a:r>
              <a:rPr lang="es-ES" sz="1400" dirty="0" err="1">
                <a:latin typeface="+mj-lt"/>
                <a:cs typeface="Arial" panose="020B0604020202020204" pitchFamily="34" charset="0"/>
              </a:rPr>
              <a:t>deep</a:t>
            </a:r>
            <a:r>
              <a:rPr lang="es-ES" sz="1400" dirty="0">
                <a:latin typeface="+mj-lt"/>
                <a:cs typeface="Arial" panose="020B0604020202020204" pitchFamily="34" charset="0"/>
              </a:rPr>
              <a:t> presenta un comportamiento más suave y predecible, ya que el acoplamiento varía de una forma más gradual. </a:t>
            </a:r>
            <a:endParaRPr lang="en-US" sz="1400" dirty="0">
              <a:latin typeface="+mj-lt"/>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1DE361C9-D1D9-C713-0F26-D878DCF3D8D9}"/>
              </a:ext>
            </a:extLst>
          </p:cNvPr>
          <p:cNvPicPr>
            <a:picLocks noChangeAspect="1"/>
          </p:cNvPicPr>
          <p:nvPr/>
        </p:nvPicPr>
        <p:blipFill>
          <a:blip r:embed="rId4"/>
          <a:stretch>
            <a:fillRect/>
          </a:stretch>
        </p:blipFill>
        <p:spPr>
          <a:xfrm>
            <a:off x="6373424" y="1564923"/>
            <a:ext cx="5306786" cy="3095625"/>
          </a:xfrm>
          <a:prstGeom prst="rect">
            <a:avLst/>
          </a:prstGeom>
        </p:spPr>
      </p:pic>
      <p:pic>
        <p:nvPicPr>
          <p:cNvPr id="12" name="Imagen 11">
            <a:extLst>
              <a:ext uri="{FF2B5EF4-FFF2-40B4-BE49-F238E27FC236}">
                <a16:creationId xmlns:a16="http://schemas.microsoft.com/office/drawing/2014/main" id="{D569BA51-B438-DD45-2183-98CECBD49D6E}"/>
              </a:ext>
            </a:extLst>
          </p:cNvPr>
          <p:cNvPicPr>
            <a:picLocks noChangeAspect="1"/>
          </p:cNvPicPr>
          <p:nvPr/>
        </p:nvPicPr>
        <p:blipFill>
          <a:blip r:embed="rId5"/>
          <a:stretch>
            <a:fillRect/>
          </a:stretch>
        </p:blipFill>
        <p:spPr>
          <a:xfrm>
            <a:off x="685800" y="1507108"/>
            <a:ext cx="5334000" cy="3115208"/>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354217"/>
          </a:xfrm>
          <a:prstGeom prst="rect">
            <a:avLst/>
          </a:prstGeom>
          <a:solidFill>
            <a:schemeClr val="bg1">
              <a:lumMod val="95000"/>
            </a:schemeClr>
          </a:solidFill>
          <a:ln w="28575">
            <a:solidFill>
              <a:srgbClr val="E0700D"/>
            </a:solidFill>
          </a:ln>
        </p:spPr>
        <p:txBody>
          <a:bodyPr wrap="square" rtlCol="0">
            <a:spAutoFit/>
          </a:bodyPr>
          <a:lstStyle/>
          <a:p>
            <a:pPr algn="just"/>
            <a:r>
              <a:rPr lang="es-ES" sz="1400" noProof="0" dirty="0">
                <a:latin typeface="+mj-lt"/>
                <a:cs typeface="Arial" panose="020B0604020202020204" pitchFamily="34" charset="0"/>
              </a:rPr>
              <a:t>Se observa que la longitud de acoplamiento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disminuye al aumentar la longitud de onda. Además,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depende de la polarización, siendo mayor para los modos TE que para los TM debido a sus diferentes índices efectivos. Por otra parte, la guía </a:t>
            </a:r>
            <a:r>
              <a:rPr lang="es-ES" sz="1400" noProof="0" dirty="0" err="1">
                <a:latin typeface="+mj-lt"/>
                <a:cs typeface="Arial" panose="020B0604020202020204" pitchFamily="34" charset="0"/>
              </a:rPr>
              <a:t>shallow</a:t>
            </a:r>
            <a:r>
              <a:rPr lang="es-ES" sz="1400" noProof="0" dirty="0">
                <a:latin typeface="+mj-lt"/>
                <a:cs typeface="Arial" panose="020B0604020202020204" pitchFamily="34" charset="0"/>
              </a:rPr>
              <a:t> presenta valores de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ligeramente superiores a los de la guía </a:t>
            </a:r>
            <a:r>
              <a:rPr lang="es-ES" sz="1400" noProof="0" dirty="0" err="1">
                <a:latin typeface="+mj-lt"/>
                <a:cs typeface="Arial" panose="020B0604020202020204" pitchFamily="34" charset="0"/>
              </a:rPr>
              <a:t>deep</a:t>
            </a:r>
            <a:r>
              <a:rPr lang="es-ES" sz="1400" noProof="0" dirty="0">
                <a:latin typeface="+mj-lt"/>
                <a:cs typeface="Arial" panose="020B0604020202020204" pitchFamily="34" charset="0"/>
              </a:rPr>
              <a:t> como consecuencia del menor confinamiento modal introducido por el </a:t>
            </a:r>
            <a:r>
              <a:rPr lang="es-ES" sz="1400" noProof="0" dirty="0" err="1">
                <a:latin typeface="+mj-lt"/>
                <a:cs typeface="Arial" panose="020B0604020202020204" pitchFamily="34" charset="0"/>
              </a:rPr>
              <a:t>slab</a:t>
            </a:r>
            <a:r>
              <a:rPr lang="es-ES" sz="1400" noProof="0" dirty="0">
                <a:latin typeface="+mj-lt"/>
                <a:cs typeface="Arial" panose="020B0604020202020204" pitchFamily="34" charset="0"/>
              </a:rPr>
              <a:t>, que aumenta el ancho efectivo de los modos. Finalmente, al comparar con el acoplador direccional, el MMI muestra una menor sensibilidad frente a la longitud de onda, ya que su funcionamiento se basa en la interferencia multimodo dentro de una región ancha, en lugar del acoplamiento evanescente entre guías.</a:t>
            </a: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82E46BAE-D88C-A92F-49FE-6A2AE9442825}"/>
              </a:ext>
            </a:extLst>
          </p:cNvPr>
          <p:cNvPicPr>
            <a:picLocks noChangeAspect="1"/>
          </p:cNvPicPr>
          <p:nvPr/>
        </p:nvPicPr>
        <p:blipFill>
          <a:blip r:embed="rId4"/>
          <a:stretch>
            <a:fillRect/>
          </a:stretch>
        </p:blipFill>
        <p:spPr>
          <a:xfrm>
            <a:off x="6391107" y="1663086"/>
            <a:ext cx="5198641" cy="2901854"/>
          </a:xfrm>
          <a:prstGeom prst="rect">
            <a:avLst/>
          </a:prstGeom>
        </p:spPr>
      </p:pic>
      <p:pic>
        <p:nvPicPr>
          <p:cNvPr id="12" name="Imagen 11">
            <a:extLst>
              <a:ext uri="{FF2B5EF4-FFF2-40B4-BE49-F238E27FC236}">
                <a16:creationId xmlns:a16="http://schemas.microsoft.com/office/drawing/2014/main" id="{FE0BF4DC-EA67-E5EC-E28E-8E4DACC49D0E}"/>
              </a:ext>
            </a:extLst>
          </p:cNvPr>
          <p:cNvPicPr>
            <a:picLocks noChangeAspect="1"/>
          </p:cNvPicPr>
          <p:nvPr/>
        </p:nvPicPr>
        <p:blipFill>
          <a:blip r:embed="rId5"/>
          <a:stretch>
            <a:fillRect/>
          </a:stretch>
        </p:blipFill>
        <p:spPr>
          <a:xfrm>
            <a:off x="629569" y="1613712"/>
            <a:ext cx="5279366" cy="2946915"/>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564879" y="4547975"/>
            <a:ext cx="11199971" cy="2246769"/>
          </a:xfrm>
          <a:prstGeom prst="rect">
            <a:avLst/>
          </a:prstGeom>
          <a:solidFill>
            <a:schemeClr val="bg1">
              <a:lumMod val="95000"/>
            </a:schemeClr>
          </a:solidFill>
          <a:ln w="28575">
            <a:solidFill>
              <a:srgbClr val="E0700D"/>
            </a:solidFill>
          </a:ln>
        </p:spPr>
        <p:txBody>
          <a:bodyPr wrap="square" rtlCol="0">
            <a:spAutoFit/>
          </a:bodyPr>
          <a:lstStyle/>
          <a:p>
            <a:pPr algn="just"/>
            <a:r>
              <a:rPr lang="es-ES" sz="1400" noProof="0" dirty="0">
                <a:latin typeface="+mj-lt"/>
                <a:cs typeface="Arial" panose="020B0604020202020204" pitchFamily="34" charset="0"/>
              </a:rPr>
              <a:t>A partir de las gráficas, se observa que al aumentar el ancho del MMI también aumenta la longitud de acoplamiento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Esto se debe a que, al incrementar el ancho, la diferencia entre los índices efectivos de los modos disminuye, por lo que se requiere una mayor distancia de propagación para que se cumpla la condición de </a:t>
            </a:r>
            <a:r>
              <a:rPr lang="es-ES" sz="1400" noProof="0" dirty="0" err="1">
                <a:latin typeface="+mj-lt"/>
                <a:cs typeface="Arial" panose="020B0604020202020204" pitchFamily="34" charset="0"/>
              </a:rPr>
              <a:t>auto-imagen</a:t>
            </a:r>
            <a:r>
              <a:rPr lang="es-ES" sz="1400" noProof="0" dirty="0">
                <a:latin typeface="+mj-lt"/>
                <a:cs typeface="Arial" panose="020B0604020202020204" pitchFamily="34" charset="0"/>
              </a:rPr>
              <a:t>. Asimismo, se observa que los valores de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son mayores para los modos TE que para los TM, lo que evidencia la dependencia del dispositivo con la polarización. Al comparar las guías </a:t>
            </a:r>
            <a:r>
              <a:rPr lang="es-ES" sz="1400" noProof="0" dirty="0" err="1">
                <a:latin typeface="+mj-lt"/>
                <a:cs typeface="Arial" panose="020B0604020202020204" pitchFamily="34" charset="0"/>
              </a:rPr>
              <a:t>deep</a:t>
            </a:r>
            <a:r>
              <a:rPr lang="es-ES" sz="1400" noProof="0" dirty="0">
                <a:latin typeface="+mj-lt"/>
                <a:cs typeface="Arial" panose="020B0604020202020204" pitchFamily="34" charset="0"/>
              </a:rPr>
              <a:t> y </a:t>
            </a:r>
            <a:r>
              <a:rPr lang="es-ES" sz="1400" noProof="0" dirty="0" err="1">
                <a:latin typeface="+mj-lt"/>
                <a:cs typeface="Arial" panose="020B0604020202020204" pitchFamily="34" charset="0"/>
              </a:rPr>
              <a:t>shallow</a:t>
            </a:r>
            <a:r>
              <a:rPr lang="es-ES" sz="1400" noProof="0" dirty="0">
                <a:latin typeface="+mj-lt"/>
                <a:cs typeface="Arial" panose="020B0604020202020204" pitchFamily="34" charset="0"/>
              </a:rPr>
              <a:t>, la estructura </a:t>
            </a:r>
            <a:r>
              <a:rPr lang="es-ES" sz="1400" noProof="0" dirty="0" err="1">
                <a:latin typeface="+mj-lt"/>
                <a:cs typeface="Arial" panose="020B0604020202020204" pitchFamily="34" charset="0"/>
              </a:rPr>
              <a:t>shallow</a:t>
            </a:r>
            <a:r>
              <a:rPr lang="es-ES" sz="1400" noProof="0" dirty="0">
                <a:latin typeface="+mj-lt"/>
                <a:cs typeface="Arial" panose="020B0604020202020204" pitchFamily="34" charset="0"/>
              </a:rPr>
              <a:t> presenta valores de </a:t>
            </a:r>
            <a:r>
              <a:rPr lang="es-ES" sz="1400" noProof="0" dirty="0" err="1">
                <a:latin typeface="+mj-lt"/>
                <a:cs typeface="Arial" panose="020B0604020202020204" pitchFamily="34" charset="0"/>
              </a:rPr>
              <a:t>Lpi</a:t>
            </a:r>
            <a:r>
              <a:rPr lang="es-ES" sz="1400" noProof="0" dirty="0">
                <a:latin typeface="+mj-lt"/>
                <a:cs typeface="Arial" panose="020B0604020202020204" pitchFamily="34" charset="0"/>
              </a:rPr>
              <a:t>​ ligeramente superiores. Esto se debe a que el </a:t>
            </a:r>
            <a:r>
              <a:rPr lang="es-ES" sz="1400" noProof="0" dirty="0" err="1">
                <a:latin typeface="+mj-lt"/>
                <a:cs typeface="Arial" panose="020B0604020202020204" pitchFamily="34" charset="0"/>
              </a:rPr>
              <a:t>slab</a:t>
            </a:r>
            <a:r>
              <a:rPr lang="es-ES" sz="1400" noProof="0" dirty="0">
                <a:latin typeface="+mj-lt"/>
                <a:cs typeface="Arial" panose="020B0604020202020204" pitchFamily="34" charset="0"/>
              </a:rPr>
              <a:t> reduce el confinamiento modal, haciendo que los modos se extiendan más y que la interferencia constructiva se produzca a mayores distancias.</a:t>
            </a:r>
          </a:p>
          <a:p>
            <a:pPr algn="just"/>
            <a:endParaRPr lang="es-ES" sz="1400" noProof="0" dirty="0">
              <a:latin typeface="+mj-lt"/>
              <a:cs typeface="Arial" panose="020B0604020202020204" pitchFamily="34" charset="0"/>
            </a:endParaRPr>
          </a:p>
          <a:p>
            <a:pPr algn="just"/>
            <a:r>
              <a:rPr lang="es-ES" sz="1400" b="1" dirty="0">
                <a:latin typeface="+mj-lt"/>
                <a:cs typeface="Arial" panose="020B0604020202020204" pitchFamily="34" charset="0"/>
              </a:rPr>
              <a:t>¿Existe algún punto para el cual el MMI puede trabajar idénticamente para TE y TM?</a:t>
            </a:r>
          </a:p>
          <a:p>
            <a:pPr algn="just"/>
            <a:r>
              <a:rPr lang="es-ES" sz="1400" dirty="0">
                <a:latin typeface="+mj-lt"/>
                <a:cs typeface="Arial" panose="020B0604020202020204" pitchFamily="34" charset="0"/>
              </a:rPr>
              <a:t>No existe ya que ambas polarizaciones tienen distintos índices efectivos. Sin embargo, mediante un ajuste adecuado del diseño, se puede conseguir que sus longitudes de acoplamiento sean muy similares.</a:t>
            </a:r>
            <a:endParaRPr lang="es-ES" sz="1400" noProof="0" dirty="0">
              <a:latin typeface="+mj-lt"/>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590750" y="118664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02733" y="118664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1CA97DE4-3A15-A305-891A-6F8993E90634}"/>
              </a:ext>
            </a:extLst>
          </p:cNvPr>
          <p:cNvPicPr>
            <a:picLocks noChangeAspect="1"/>
          </p:cNvPicPr>
          <p:nvPr/>
        </p:nvPicPr>
        <p:blipFill>
          <a:blip r:embed="rId4"/>
          <a:stretch>
            <a:fillRect/>
          </a:stretch>
        </p:blipFill>
        <p:spPr>
          <a:xfrm>
            <a:off x="6707921" y="1219200"/>
            <a:ext cx="4693463" cy="3173997"/>
          </a:xfrm>
          <a:prstGeom prst="rect">
            <a:avLst/>
          </a:prstGeom>
        </p:spPr>
      </p:pic>
      <p:pic>
        <p:nvPicPr>
          <p:cNvPr id="12" name="Imagen 11">
            <a:extLst>
              <a:ext uri="{FF2B5EF4-FFF2-40B4-BE49-F238E27FC236}">
                <a16:creationId xmlns:a16="http://schemas.microsoft.com/office/drawing/2014/main" id="{96C10145-190D-AC71-B249-D1B402778CE7}"/>
              </a:ext>
            </a:extLst>
          </p:cNvPr>
          <p:cNvPicPr>
            <a:picLocks noChangeAspect="1"/>
          </p:cNvPicPr>
          <p:nvPr/>
        </p:nvPicPr>
        <p:blipFill>
          <a:blip r:embed="rId5"/>
          <a:stretch>
            <a:fillRect/>
          </a:stretch>
        </p:blipFill>
        <p:spPr>
          <a:xfrm>
            <a:off x="819509" y="1213869"/>
            <a:ext cx="4800600" cy="3246449"/>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34225</TotalTime>
  <Words>2481</Words>
  <Application>Microsoft Office PowerPoint</Application>
  <PresentationFormat>Panorámica</PresentationFormat>
  <Paragraphs>176</Paragraphs>
  <Slides>23</Slides>
  <Notes>18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vt:lpstr>
      <vt:lpstr>Learning outcome #4 – Parallel uncoupled waveguides – TE0 mode Wavelength 1.55 µm, width 1.0 µm, gap to be found for uncoupled wvgs</vt:lpstr>
      <vt:lpstr>Presentación de PowerPoint</vt:lpstr>
      <vt:lpstr>Learning outcome #5 – Multimode Interference (MMI) Coupler cross-section </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12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mirandagimf@gmail.com</cp:lastModifiedBy>
  <cp:revision>26</cp:revision>
  <dcterms:created xsi:type="dcterms:W3CDTF">2025-01-27T02:46:57Z</dcterms:created>
  <dcterms:modified xsi:type="dcterms:W3CDTF">2026-05-04T00:12:45Z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