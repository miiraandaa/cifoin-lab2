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0"/>
  </p:notesMasterIdLst>
  <p:handoutMasterIdLst>
    <p:handoutMasterId r:id="rId21"/>
  </p:handoutMasterIdLst>
  <p:sldIdLst>
    <p:sldId id="256" r:id="rId2"/>
    <p:sldId id="289" r:id="rId3"/>
    <p:sldId id="295" r:id="rId4"/>
    <p:sldId id="304" r:id="rId5"/>
    <p:sldId id="302" r:id="rId6"/>
    <p:sldId id="303" r:id="rId7"/>
    <p:sldId id="291" r:id="rId8"/>
    <p:sldId id="296" r:id="rId9"/>
    <p:sldId id="293" r:id="rId10"/>
    <p:sldId id="294" r:id="rId11"/>
    <p:sldId id="299" r:id="rId12"/>
    <p:sldId id="300" r:id="rId13"/>
    <p:sldId id="301" r:id="rId14"/>
    <p:sldId id="290" r:id="rId15"/>
    <p:sldId id="297" r:id="rId16"/>
    <p:sldId id="292" r:id="rId17"/>
    <p:sldId id="298" r:id="rId18"/>
    <p:sldId id="288" r:id="rId1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74" d="100"/>
          <a:sy n="74" d="100"/>
        </p:scale>
        <p:origin x="684" y="5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24/03/2026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24/03/2026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Terminal + ‘</a:t>
            </a:r>
            <a:r>
              <a:rPr lang="en-US" kern="0" dirty="0" err="1">
                <a:solidFill>
                  <a:sysClr val="windowText" lastClr="000000"/>
                </a:solidFill>
                <a:sym typeface="Wingdings" pitchFamily="2" charset="2"/>
              </a:rPr>
              <a:t>uv</a:t>
            </a:r>
            <a:r>
              <a:rPr lang="en-US" kern="0">
                <a:solidFill>
                  <a:sysClr val="windowText" lastClr="000000"/>
                </a:solidFill>
                <a:sym typeface="Wingdings" pitchFamily="2" charset="2"/>
              </a:rPr>
              <a:t> sync’</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3909688" y="2609722"/>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26040"/>
            <a:ext cx="3383313" cy="98368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spTree>
    <p:extLst>
      <p:ext uri="{BB962C8B-B14F-4D97-AF65-F5344CB8AC3E}">
        <p14:creationId xmlns:p14="http://schemas.microsoft.com/office/powerpoint/2010/main" val="1558326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DA14DBA-172E-DA2C-0573-6A00BF18F4A5}"/>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2815679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643565A9-7DB6-D6EE-152F-2852C8BA7986}"/>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equal ratio over outputs (even if not 0.5) and minimize excess loss (even if not 0.0 dB)</a:t>
            </a:r>
          </a:p>
          <a:p>
            <a:pPr algn="r"/>
            <a:r>
              <a:rPr lang="en-US" sz="1600" dirty="0"/>
              <a:t>With same settings of previous LO, now adjust try to manually optimize the MMI by changing iteratively:</a:t>
            </a:r>
          </a:p>
          <a:p>
            <a:pPr algn="r"/>
            <a:r>
              <a:rPr lang="en-US" sz="1600" dirty="0"/>
              <a:t>- Change </a:t>
            </a:r>
            <a:r>
              <a:rPr lang="en-US" sz="1600" dirty="0" err="1"/>
              <a:t>dL_MMI</a:t>
            </a:r>
            <a:endParaRPr lang="en-US" sz="1600" dirty="0"/>
          </a:p>
          <a:p>
            <a:pPr algn="r"/>
            <a:r>
              <a:rPr lang="en-US" sz="1600" dirty="0"/>
              <a:t>- Change I/O waveguide position +/- </a:t>
            </a:r>
            <a:r>
              <a:rPr lang="en-US" sz="1600" dirty="0" err="1"/>
              <a:t>dy</a:t>
            </a:r>
            <a:endParaRPr lang="en-US" sz="1600" dirty="0"/>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2685215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640245" y="1942909"/>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spTree>
    <p:extLst>
      <p:ext uri="{BB962C8B-B14F-4D97-AF65-F5344CB8AC3E}">
        <p14:creationId xmlns:p14="http://schemas.microsoft.com/office/powerpoint/2010/main" val="1023731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Usar table, columna final, con N=4.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analisis</a:t>
            </a:r>
            <a:r>
              <a:rPr lang="en-US" sz="1200" dirty="0">
                <a:latin typeface="Arial" panose="020B0604020202020204" pitchFamily="34" charset="0"/>
                <a:cs typeface="Arial" panose="020B0604020202020204" pitchFamily="34" charset="0"/>
              </a:rPr>
              <a:t> similar al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hecho</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2.2 (?)</a:t>
            </a:r>
          </a:p>
          <a:p>
            <a:pPr algn="just"/>
            <a:r>
              <a:rPr lang="en-US" sz="1200" dirty="0">
                <a:latin typeface="Arial" panose="020B0604020202020204" pitchFamily="34" charset="0"/>
                <a:cs typeface="Arial" panose="020B0604020202020204" pitchFamily="34" charset="0"/>
              </a:rPr>
              <a:t>Repeat all the design process for a 1x4 MMI Coupler.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spTree>
    <p:extLst>
      <p:ext uri="{BB962C8B-B14F-4D97-AF65-F5344CB8AC3E}">
        <p14:creationId xmlns:p14="http://schemas.microsoft.com/office/powerpoint/2010/main" val="6998643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179796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955145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spTree>
    <p:extLst>
      <p:ext uri="{BB962C8B-B14F-4D97-AF65-F5344CB8AC3E}">
        <p14:creationId xmlns:p14="http://schemas.microsoft.com/office/powerpoint/2010/main" val="535939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33700</TotalTime>
  <Words>1233</Words>
  <Application>Microsoft Office PowerPoint</Application>
  <PresentationFormat>Panorámica</PresentationFormat>
  <Paragraphs>230</Paragraphs>
  <Slides>18</Slides>
  <Notes>13</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18</vt:i4>
      </vt:variant>
    </vt:vector>
  </HeadingPairs>
  <TitlesOfParts>
    <vt:vector size="2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Miranda Gimenez Ferrando</cp:lastModifiedBy>
  <cp:revision>14</cp:revision>
  <dcterms:created xsi:type="dcterms:W3CDTF">2025-01-27T02:46:57Z</dcterms:created>
  <dcterms:modified xsi:type="dcterms:W3CDTF">2026-04-16T07:37:24Z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